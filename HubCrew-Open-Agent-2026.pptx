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63" r:id="rId9"/>
    <p:sldId id="272" r:id="rId18"/>
    <p:sldId id="293" r:id="rId39"/>
    <p:sldId id="270" r:id="rId16"/>
    <p:sldId id="292" r:id="rId38"/>
    <p:sldId id="273" r:id="rId19"/>
    <p:sldId id="294" r:id="rId40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16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HubCrew — Open Agent Hackathon 2026 · Track 03 Reasoning Architecture</a:t>
            </a:r>
            <a:endParaRPr lang="en-US"/>
          </a:p>
          <a:p>
            <a:r>
              <a:rPr lang="en-US" dirty="0"/>
              <a:t>Sources: https://www.wangwu.ai · https://github.com/wangwu-30/open-agent-2026</a:t>
            </a:r>
            <a:endParaRPr lang="en-US"/>
          </a:p>
          <a:p>
            <a:r>
              <a:rPr lang="en-US" dirty="0"/>
              <a:t>SUBMISSION.md · ARCHITECTURE.md · DEMO-SCRIPT.md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&amp; user — solo operator, many named agents; handoffs lose unfinished work / failed paths / live decisions; alerts scatter.</a:t>
            </a:r>
            <a:endParaRPr lang="en-US"/>
          </a:p>
          <a:p>
            <a:r>
              <a:rPr lang="en-US" dirty="0"/>
              <a:t>Sources: SUBMISSION.md (Problem / target users) · https://github.com/wangwu-30/open-agent-2026 · https://www.wangwu.ai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Workflow: address named agent → inherit Constitution G1 prefs → handoff package → reason with H-MEM + Zetaris SQL → act on HubCards (Telegram urgent fallback).</a:t>
            </a:r>
            <a:endParaRPr lang="en-US"/>
          </a:p>
          <a:p>
            <a:r>
              <a:rPr lang="en-US" dirty="0"/>
              <a:t>Do not claim Zetaris live query results yet.</a:t>
            </a:r>
            <a:endParaRPr lang="en-US"/>
          </a:p>
          <a:p>
            <a:r>
              <a:rPr lang="en-US" dirty="0"/>
              <a:t>Sources: ARCHITECTURE.md · SUBMISSION.md · https://github.com/wangwu-30/open-agent-2026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layers — HubCards human entry; per-agent entry+scheduler; collaboration above; Constitution G1 handoff package.</a:t>
            </a:r>
            <a:endParaRPr lang="en-US"/>
          </a:p>
          <a:p>
            <a:r>
              <a:rPr lang="en-US" dirty="0"/>
              <a:t>Sources: SUBMISSION.md (Solution) · ARCHITECTURE.md · https://github.com/wangwu-30/open-agent-2026 · https://www.wangwu.ai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Zetaris data plane — governed read SQL before priority/alert. Honest status: instance setup in progress / planned read path. No live query results claimed.</a:t>
            </a:r>
            <a:endParaRPr lang="en-US"/>
          </a:p>
          <a:p>
            <a:r>
              <a:rPr lang="en-US" dirty="0"/>
              <a:t>Refs: https://zetaris.github.io/getting-started · https://github.com/zetaris/getting-started · SPONSOR-PLAN.md · SUBMISSION.md · sponsors/zetaris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Meterless H-MEM: remember/ask/audit/sleep → Mining/Store/Retrieval/TrustLedger/Sleep.</a:t>
            </a:r>
            <a:endParaRPr lang="en-US"/>
          </a:p>
          <a:p>
            <a:r>
              <a:rPr lang="en-US" dirty="0"/>
              <a:t>Engine source vendor/hmem; path sponsors/hmem-notebook on github.com/wangwu-30/open-agent-2026.</a:t>
            </a:r>
            <a:endParaRPr lang="en-US"/>
          </a:p>
          <a:p>
            <a:r>
              <a:rPr lang="en-US" dirty="0"/>
              <a:t>Sources: SPONSOR-PLAN.md · SUBMISSION.md · https://github.com/Meterless/Meterless/tree/main/templates/agentathon-starter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Entry (HubCards) → Session/Scheduler → Memory (Meterless H-MEM) → Tools/Data (Zetaris + imwire) → Action/Alert.</a:t>
            </a:r>
            <a:endParaRPr lang="en-US"/>
          </a:p>
          <a:p>
            <a:r>
              <a:rPr lang="en-US" dirty="0"/>
              <a:t>Single agent = entry + own scheduler; collaboration layer above.</a:t>
            </a:r>
            <a:endParaRPr lang="en-US"/>
          </a:p>
          <a:p>
            <a:r>
              <a:rPr lang="en-US" dirty="0"/>
              <a:t>Sources: ARCHITECTURE.md · SUBMISSION.md · https://github.com/wangwu-30/open-agent-2026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Unique + declare — pre-existing HubCards/home crew; delta = docs + H-MEM + Zetaris path + demo/slides.</a:t>
            </a:r>
            <a:endParaRPr lang="en-US"/>
          </a:p>
          <a:p>
            <a:r>
              <a:rPr lang="en-US" dirty="0"/>
              <a:t>Related: https://github.com/wangwu-30/imwire · https://github.com/wangwu-30/teamrecall</a:t>
            </a:r>
            <a:endParaRPr lang="en-US"/>
          </a:p>
          <a:p>
            <a:r>
              <a:rPr lang="en-US" dirty="0"/>
              <a:t>Repo: https://github.com/wangwu-30/open-agent-2026 · Site: https://www.wangwu.ai · Track 03</a:t>
            </a:r>
            <a:endParaRPr lang="en-US"/>
          </a:p>
          <a:p>
            <a:r>
              <a:rPr lang="en-US" dirty="0"/>
              <a:t>Sources: SUBMISSION.md · SPONSOR-PLAN.md · CHECKLIST.md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556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6214262" y="645566"/>
            <a:ext cx="5312664" cy="6212434"/>
          </a:xfrm>
          <a:prstGeom prst="parallelogram">
            <a:avLst/>
          </a:pr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530352" y="645566"/>
            <a:ext cx="5312664" cy="6212434"/>
          </a:xfrm>
          <a:prstGeom prst="parallelogram">
            <a:avLst/>
          </a:pr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0"/>
              <a:gd name="adj2" fmla="val 636000"/>
            </a:avLst>
          </a:prstGeom>
          <a:solidFill>
            <a:srgbClr val="7AD45E"/>
          </a:solidFill>
          <a:ln/>
        </p:spPr>
      </p:sp>
      <p:sp>
        <p:nvSpPr>
          <p:cNvPr id="7" name="Shape 5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600000"/>
              <a:gd name="adj2" fmla="val 1236000"/>
            </a:avLst>
          </a:prstGeom>
          <a:solidFill>
            <a:srgbClr val="67DB6C"/>
          </a:solidFill>
          <a:ln/>
        </p:spPr>
      </p:sp>
      <p:sp>
        <p:nvSpPr>
          <p:cNvPr id="8" name="Shape 6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200000"/>
              <a:gd name="adj2" fmla="val 1836000"/>
            </a:avLst>
          </a:prstGeom>
          <a:solidFill>
            <a:srgbClr val="54E27A"/>
          </a:solidFill>
          <a:ln/>
        </p:spPr>
      </p:sp>
      <p:sp>
        <p:nvSpPr>
          <p:cNvPr id="9" name="Shape 7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800000"/>
              <a:gd name="adj2" fmla="val 2436000"/>
            </a:avLst>
          </a:prstGeom>
          <a:solidFill>
            <a:srgbClr val="43E988"/>
          </a:solidFill>
          <a:ln/>
        </p:spPr>
      </p:sp>
      <p:sp>
        <p:nvSpPr>
          <p:cNvPr id="10" name="Shape 8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2400000"/>
              <a:gd name="adj2" fmla="val 3036000"/>
            </a:avLst>
          </a:prstGeom>
          <a:solidFill>
            <a:srgbClr val="3FE593"/>
          </a:solidFill>
          <a:ln/>
        </p:spPr>
      </p:sp>
      <p:sp>
        <p:nvSpPr>
          <p:cNvPr id="11" name="Shape 9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3000000"/>
              <a:gd name="adj2" fmla="val 3636000"/>
            </a:avLst>
          </a:prstGeom>
          <a:solidFill>
            <a:srgbClr val="3BE29E"/>
          </a:solidFill>
          <a:ln/>
        </p:spPr>
      </p:sp>
      <p:sp>
        <p:nvSpPr>
          <p:cNvPr id="12" name="Shape 10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3600000"/>
              <a:gd name="adj2" fmla="val 4236000"/>
            </a:avLst>
          </a:prstGeom>
          <a:solidFill>
            <a:srgbClr val="37DFA9"/>
          </a:solidFill>
          <a:ln/>
        </p:spPr>
      </p:sp>
      <p:sp>
        <p:nvSpPr>
          <p:cNvPr id="13" name="Shape 11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4200000"/>
              <a:gd name="adj2" fmla="val 4836000"/>
            </a:avLst>
          </a:prstGeom>
          <a:solidFill>
            <a:srgbClr val="33DBB4"/>
          </a:solidFill>
          <a:ln/>
        </p:spPr>
      </p:sp>
      <p:sp>
        <p:nvSpPr>
          <p:cNvPr id="14" name="Shape 12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4800000"/>
              <a:gd name="adj2" fmla="val 5436000"/>
            </a:avLst>
          </a:prstGeom>
          <a:solidFill>
            <a:srgbClr val="2FD8BF"/>
          </a:solidFill>
          <a:ln/>
        </p:spPr>
      </p:sp>
      <p:sp>
        <p:nvSpPr>
          <p:cNvPr id="15" name="Shape 13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5400000"/>
              <a:gd name="adj2" fmla="val 6036000"/>
            </a:avLst>
          </a:prstGeom>
          <a:solidFill>
            <a:srgbClr val="2BD4CA"/>
          </a:solidFill>
          <a:ln/>
        </p:spPr>
      </p:sp>
      <p:sp>
        <p:nvSpPr>
          <p:cNvPr id="16" name="Shape 14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6000000"/>
              <a:gd name="adj2" fmla="val 6636000"/>
            </a:avLst>
          </a:prstGeom>
          <a:solidFill>
            <a:srgbClr val="29D3CE"/>
          </a:solidFill>
          <a:ln/>
        </p:spPr>
      </p:sp>
      <p:sp>
        <p:nvSpPr>
          <p:cNvPr id="17" name="Shape 15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6600000"/>
              <a:gd name="adj2" fmla="val 7236000"/>
            </a:avLst>
          </a:prstGeom>
          <a:solidFill>
            <a:srgbClr val="29D3CE"/>
          </a:solidFill>
          <a:ln/>
        </p:spPr>
      </p:sp>
      <p:sp>
        <p:nvSpPr>
          <p:cNvPr id="18" name="Shape 16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7200000"/>
              <a:gd name="adj2" fmla="val 7836000"/>
            </a:avLst>
          </a:prstGeom>
          <a:solidFill>
            <a:srgbClr val="29D3CE"/>
          </a:solidFill>
          <a:ln/>
        </p:spPr>
      </p:sp>
      <p:sp>
        <p:nvSpPr>
          <p:cNvPr id="19" name="Shape 17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7800000"/>
              <a:gd name="adj2" fmla="val 8436000"/>
            </a:avLst>
          </a:prstGeom>
          <a:solidFill>
            <a:srgbClr val="29D3CE"/>
          </a:solidFill>
          <a:ln/>
        </p:spPr>
      </p:sp>
      <p:sp>
        <p:nvSpPr>
          <p:cNvPr id="20" name="Shape 18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8400000"/>
              <a:gd name="adj2" fmla="val 9036000"/>
            </a:avLst>
          </a:prstGeom>
          <a:solidFill>
            <a:srgbClr val="29D3CE"/>
          </a:solidFill>
          <a:ln/>
        </p:spPr>
      </p:sp>
      <p:sp>
        <p:nvSpPr>
          <p:cNvPr id="21" name="Shape 19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9000000"/>
              <a:gd name="adj2" fmla="val 9636000"/>
            </a:avLst>
          </a:prstGeom>
          <a:solidFill>
            <a:srgbClr val="29D3CE"/>
          </a:solidFill>
          <a:ln/>
        </p:spPr>
      </p:sp>
      <p:sp>
        <p:nvSpPr>
          <p:cNvPr id="22" name="Shape 20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9600000"/>
              <a:gd name="adj2" fmla="val 10236000"/>
            </a:avLst>
          </a:prstGeom>
          <a:solidFill>
            <a:srgbClr val="29D3CE"/>
          </a:solidFill>
          <a:ln/>
        </p:spPr>
      </p:sp>
      <p:sp>
        <p:nvSpPr>
          <p:cNvPr id="23" name="Shape 21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0200000"/>
              <a:gd name="adj2" fmla="val 10836000"/>
            </a:avLst>
          </a:prstGeom>
          <a:solidFill>
            <a:srgbClr val="2BD4CA"/>
          </a:solidFill>
          <a:ln/>
        </p:spPr>
      </p:sp>
      <p:sp>
        <p:nvSpPr>
          <p:cNvPr id="24" name="Shape 22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0800000"/>
              <a:gd name="adj2" fmla="val 11436000"/>
            </a:avLst>
          </a:prstGeom>
          <a:solidFill>
            <a:srgbClr val="2FD8BF"/>
          </a:solidFill>
          <a:ln/>
        </p:spPr>
      </p:sp>
      <p:sp>
        <p:nvSpPr>
          <p:cNvPr id="25" name="Shape 23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1400000"/>
              <a:gd name="adj2" fmla="val 12036000"/>
            </a:avLst>
          </a:prstGeom>
          <a:solidFill>
            <a:srgbClr val="33DBB4"/>
          </a:solidFill>
          <a:ln/>
        </p:spPr>
      </p:sp>
      <p:sp>
        <p:nvSpPr>
          <p:cNvPr id="26" name="Shape 24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2000000"/>
              <a:gd name="adj2" fmla="val 12636000"/>
            </a:avLst>
          </a:prstGeom>
          <a:solidFill>
            <a:srgbClr val="37DFA9"/>
          </a:solidFill>
          <a:ln/>
        </p:spPr>
      </p:sp>
      <p:sp>
        <p:nvSpPr>
          <p:cNvPr id="27" name="Shape 25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2600000"/>
              <a:gd name="adj2" fmla="val 13236000"/>
            </a:avLst>
          </a:prstGeom>
          <a:solidFill>
            <a:srgbClr val="3BE29E"/>
          </a:solidFill>
          <a:ln/>
        </p:spPr>
      </p:sp>
      <p:sp>
        <p:nvSpPr>
          <p:cNvPr id="28" name="Shape 26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3200000"/>
              <a:gd name="adj2" fmla="val 13836000"/>
            </a:avLst>
          </a:prstGeom>
          <a:solidFill>
            <a:srgbClr val="3FE593"/>
          </a:solidFill>
          <a:ln/>
        </p:spPr>
      </p:sp>
      <p:sp>
        <p:nvSpPr>
          <p:cNvPr id="29" name="Shape 27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3800000"/>
              <a:gd name="adj2" fmla="val 14436000"/>
            </a:avLst>
          </a:prstGeom>
          <a:solidFill>
            <a:srgbClr val="43E988"/>
          </a:solidFill>
          <a:ln/>
        </p:spPr>
      </p:sp>
      <p:sp>
        <p:nvSpPr>
          <p:cNvPr id="30" name="Shape 28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4400000"/>
              <a:gd name="adj2" fmla="val 15036000"/>
            </a:avLst>
          </a:prstGeom>
          <a:solidFill>
            <a:srgbClr val="54E27A"/>
          </a:solidFill>
          <a:ln/>
        </p:spPr>
      </p:sp>
      <p:sp>
        <p:nvSpPr>
          <p:cNvPr id="31" name="Shape 29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5000000"/>
              <a:gd name="adj2" fmla="val 15636000"/>
            </a:avLst>
          </a:prstGeom>
          <a:solidFill>
            <a:srgbClr val="67DB6C"/>
          </a:solidFill>
          <a:ln/>
        </p:spPr>
      </p:sp>
      <p:sp>
        <p:nvSpPr>
          <p:cNvPr id="32" name="Shape 30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5600000"/>
              <a:gd name="adj2" fmla="val 16236000"/>
            </a:avLst>
          </a:prstGeom>
          <a:solidFill>
            <a:srgbClr val="7AD45E"/>
          </a:solidFill>
          <a:ln/>
        </p:spPr>
      </p:sp>
      <p:sp>
        <p:nvSpPr>
          <p:cNvPr id="33" name="Shape 31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6200000"/>
              <a:gd name="adj2" fmla="val 16836000"/>
            </a:avLst>
          </a:prstGeom>
          <a:solidFill>
            <a:srgbClr val="8CCC50"/>
          </a:solidFill>
          <a:ln/>
        </p:spPr>
      </p:sp>
      <p:sp>
        <p:nvSpPr>
          <p:cNvPr id="34" name="Shape 32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6800000"/>
              <a:gd name="adj2" fmla="val 17436000"/>
            </a:avLst>
          </a:prstGeom>
          <a:solidFill>
            <a:srgbClr val="9FC542"/>
          </a:solidFill>
          <a:ln/>
        </p:spPr>
      </p:sp>
      <p:sp>
        <p:nvSpPr>
          <p:cNvPr id="35" name="Shape 33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7400000"/>
              <a:gd name="adj2" fmla="val 18036000"/>
            </a:avLst>
          </a:prstGeom>
          <a:solidFill>
            <a:srgbClr val="B2BE34"/>
          </a:solidFill>
          <a:ln/>
        </p:spPr>
      </p:sp>
      <p:sp>
        <p:nvSpPr>
          <p:cNvPr id="36" name="Shape 34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8000000"/>
              <a:gd name="adj2" fmla="val 18636000"/>
            </a:avLst>
          </a:prstGeom>
          <a:solidFill>
            <a:srgbClr val="C4B626"/>
          </a:solidFill>
          <a:ln/>
        </p:spPr>
      </p:sp>
      <p:sp>
        <p:nvSpPr>
          <p:cNvPr id="37" name="Shape 35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8600000"/>
              <a:gd name="adj2" fmla="val 19236000"/>
            </a:avLst>
          </a:prstGeom>
          <a:solidFill>
            <a:srgbClr val="CDB320"/>
          </a:solidFill>
          <a:ln/>
        </p:spPr>
      </p:sp>
      <p:sp>
        <p:nvSpPr>
          <p:cNvPr id="38" name="Shape 36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9200000"/>
              <a:gd name="adj2" fmla="val 19836000"/>
            </a:avLst>
          </a:prstGeom>
          <a:solidFill>
            <a:srgbClr val="C4B626"/>
          </a:solidFill>
          <a:ln/>
        </p:spPr>
      </p:sp>
      <p:sp>
        <p:nvSpPr>
          <p:cNvPr id="39" name="Shape 37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19800000"/>
              <a:gd name="adj2" fmla="val 20436000"/>
            </a:avLst>
          </a:prstGeom>
          <a:solidFill>
            <a:srgbClr val="B2BE34"/>
          </a:solidFill>
          <a:ln/>
        </p:spPr>
      </p:sp>
      <p:sp>
        <p:nvSpPr>
          <p:cNvPr id="40" name="Shape 38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20400000"/>
              <a:gd name="adj2" fmla="val 21036000"/>
            </a:avLst>
          </a:prstGeom>
          <a:solidFill>
            <a:srgbClr val="9FC542"/>
          </a:solidFill>
          <a:ln/>
        </p:spPr>
      </p:sp>
      <p:sp>
        <p:nvSpPr>
          <p:cNvPr id="41" name="Shape 39"/>
          <p:cNvSpPr/>
          <p:nvPr/>
        </p:nvSpPr>
        <p:spPr>
          <a:xfrm>
            <a:off x="3574390" y="1103681"/>
            <a:ext cx="5042916" cy="5042916"/>
          </a:xfrm>
          <a:prstGeom prst="pie">
            <a:avLst>
              <a:gd name="adj1" fmla="val 21000000"/>
              <a:gd name="adj2" fmla="val 36000"/>
            </a:avLst>
          </a:prstGeom>
          <a:solidFill>
            <a:srgbClr val="8CCC50"/>
          </a:solidFill>
          <a:ln/>
        </p:spPr>
      </p:sp>
      <p:sp>
        <p:nvSpPr>
          <p:cNvPr id="42" name="Shape 40"/>
          <p:cNvSpPr/>
          <p:nvPr/>
        </p:nvSpPr>
        <p:spPr>
          <a:xfrm>
            <a:off x="3701491" y="1229868"/>
            <a:ext cx="4789627" cy="4789627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43" name="Shape 41"/>
          <p:cNvSpPr/>
          <p:nvPr/>
        </p:nvSpPr>
        <p:spPr>
          <a:xfrm>
            <a:off x="3819449" y="1348740"/>
            <a:ext cx="4553712" cy="4553712"/>
          </a:xfrm>
          <a:prstGeom prst="ellips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55748" y="1484986"/>
            <a:ext cx="707746" cy="707746"/>
          </a:xfrm>
          <a:prstGeom prst="ellipse">
            <a:avLst/>
          </a:prstGeom>
          <a:solidFill>
            <a:srgbClr val="38DFA6"/>
          </a:solidFill>
          <a:ln/>
        </p:spPr>
      </p:sp>
      <p:sp>
        <p:nvSpPr>
          <p:cNvPr id="45" name="Shape 43"/>
          <p:cNvSpPr/>
          <p:nvPr/>
        </p:nvSpPr>
        <p:spPr>
          <a:xfrm>
            <a:off x="9037930" y="5040173"/>
            <a:ext cx="238658" cy="238658"/>
          </a:xfrm>
          <a:prstGeom prst="ellipse">
            <a:avLst/>
          </a:prstGeom>
          <a:solidFill>
            <a:srgbClr val="38DFA6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" y="207569"/>
            <a:ext cx="160020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wangwu.ai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574122" y="207569"/>
            <a:ext cx="138623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Page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	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441802" y="2659075"/>
            <a:ext cx="5308092" cy="1323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HubCrew</a:t>
            </a:r>
            <a:endParaRPr lang="en-US" sz="8000" dirty="0"/>
          </a:p>
        </p:txBody>
      </p:sp>
      <p:sp>
        <p:nvSpPr>
          <p:cNvPr id="49" name="Shape 47"/>
          <p:cNvSpPr/>
          <p:nvPr/>
        </p:nvSpPr>
        <p:spPr>
          <a:xfrm>
            <a:off x="4533811" y="3982212"/>
            <a:ext cx="184583" cy="412394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50" name="Shape 48"/>
          <p:cNvSpPr/>
          <p:nvPr/>
        </p:nvSpPr>
        <p:spPr>
          <a:xfrm>
            <a:off x="4707421" y="3982212"/>
            <a:ext cx="184583" cy="412394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51" name="Shape 49"/>
          <p:cNvSpPr/>
          <p:nvPr/>
        </p:nvSpPr>
        <p:spPr>
          <a:xfrm>
            <a:off x="4881032" y="3982212"/>
            <a:ext cx="184583" cy="412394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52" name="Shape 50"/>
          <p:cNvSpPr/>
          <p:nvPr/>
        </p:nvSpPr>
        <p:spPr>
          <a:xfrm>
            <a:off x="5054642" y="3982212"/>
            <a:ext cx="184583" cy="412394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53" name="Shape 51"/>
          <p:cNvSpPr/>
          <p:nvPr/>
        </p:nvSpPr>
        <p:spPr>
          <a:xfrm>
            <a:off x="5228253" y="3982212"/>
            <a:ext cx="184583" cy="412394"/>
          </a:xfrm>
          <a:prstGeom prst="rect">
            <a:avLst/>
          </a:prstGeom>
          <a:solidFill>
            <a:srgbClr val="42E88A"/>
          </a:solidFill>
          <a:ln/>
        </p:spPr>
      </p:sp>
      <p:sp>
        <p:nvSpPr>
          <p:cNvPr id="54" name="Shape 52"/>
          <p:cNvSpPr/>
          <p:nvPr/>
        </p:nvSpPr>
        <p:spPr>
          <a:xfrm>
            <a:off x="5401863" y="3982212"/>
            <a:ext cx="184583" cy="412394"/>
          </a:xfrm>
          <a:prstGeom prst="rect">
            <a:avLst/>
          </a:prstGeom>
          <a:solidFill>
            <a:srgbClr val="40E68F"/>
          </a:solidFill>
          <a:ln/>
        </p:spPr>
      </p:sp>
      <p:sp>
        <p:nvSpPr>
          <p:cNvPr id="55" name="Shape 53"/>
          <p:cNvSpPr/>
          <p:nvPr/>
        </p:nvSpPr>
        <p:spPr>
          <a:xfrm>
            <a:off x="5575474" y="3982212"/>
            <a:ext cx="184583" cy="412394"/>
          </a:xfrm>
          <a:prstGeom prst="rect">
            <a:avLst/>
          </a:prstGeom>
          <a:solidFill>
            <a:srgbClr val="3EE595"/>
          </a:solidFill>
          <a:ln/>
        </p:spPr>
      </p:sp>
      <p:sp>
        <p:nvSpPr>
          <p:cNvPr id="56" name="Shape 54"/>
          <p:cNvSpPr/>
          <p:nvPr/>
        </p:nvSpPr>
        <p:spPr>
          <a:xfrm>
            <a:off x="5749084" y="3982212"/>
            <a:ext cx="184583" cy="412394"/>
          </a:xfrm>
          <a:prstGeom prst="rect">
            <a:avLst/>
          </a:prstGeom>
          <a:solidFill>
            <a:srgbClr val="3CE39A"/>
          </a:solidFill>
          <a:ln/>
        </p:spPr>
      </p:sp>
      <p:sp>
        <p:nvSpPr>
          <p:cNvPr id="57" name="Shape 55"/>
          <p:cNvSpPr/>
          <p:nvPr/>
        </p:nvSpPr>
        <p:spPr>
          <a:xfrm>
            <a:off x="5922694" y="3982212"/>
            <a:ext cx="184583" cy="412394"/>
          </a:xfrm>
          <a:prstGeom prst="rect">
            <a:avLst/>
          </a:prstGeom>
          <a:solidFill>
            <a:srgbClr val="3AE29F"/>
          </a:solidFill>
          <a:ln/>
        </p:spPr>
      </p:sp>
      <p:sp>
        <p:nvSpPr>
          <p:cNvPr id="58" name="Shape 56"/>
          <p:cNvSpPr/>
          <p:nvPr/>
        </p:nvSpPr>
        <p:spPr>
          <a:xfrm>
            <a:off x="6096305" y="3982212"/>
            <a:ext cx="184583" cy="412394"/>
          </a:xfrm>
          <a:prstGeom prst="rect">
            <a:avLst/>
          </a:prstGeom>
          <a:solidFill>
            <a:srgbClr val="38E0A4"/>
          </a:solidFill>
          <a:ln/>
        </p:spPr>
      </p:sp>
      <p:sp>
        <p:nvSpPr>
          <p:cNvPr id="59" name="Shape 57"/>
          <p:cNvSpPr/>
          <p:nvPr/>
        </p:nvSpPr>
        <p:spPr>
          <a:xfrm>
            <a:off x="6269915" y="3982212"/>
            <a:ext cx="184583" cy="412394"/>
          </a:xfrm>
          <a:prstGeom prst="rect">
            <a:avLst/>
          </a:prstGeom>
          <a:solidFill>
            <a:srgbClr val="36DEA9"/>
          </a:solidFill>
          <a:ln/>
        </p:spPr>
      </p:sp>
      <p:sp>
        <p:nvSpPr>
          <p:cNvPr id="60" name="Shape 58"/>
          <p:cNvSpPr/>
          <p:nvPr/>
        </p:nvSpPr>
        <p:spPr>
          <a:xfrm>
            <a:off x="6443526" y="3982212"/>
            <a:ext cx="184583" cy="412394"/>
          </a:xfrm>
          <a:prstGeom prst="rect">
            <a:avLst/>
          </a:prstGeom>
          <a:solidFill>
            <a:srgbClr val="34DDAF"/>
          </a:solidFill>
          <a:ln/>
        </p:spPr>
      </p:sp>
      <p:sp>
        <p:nvSpPr>
          <p:cNvPr id="61" name="Shape 59"/>
          <p:cNvSpPr/>
          <p:nvPr/>
        </p:nvSpPr>
        <p:spPr>
          <a:xfrm>
            <a:off x="6617136" y="3982212"/>
            <a:ext cx="184583" cy="412394"/>
          </a:xfrm>
          <a:prstGeom prst="rect">
            <a:avLst/>
          </a:prstGeom>
          <a:solidFill>
            <a:srgbClr val="33DBB4"/>
          </a:solidFill>
          <a:ln/>
        </p:spPr>
      </p:sp>
      <p:sp>
        <p:nvSpPr>
          <p:cNvPr id="62" name="Shape 60"/>
          <p:cNvSpPr/>
          <p:nvPr/>
        </p:nvSpPr>
        <p:spPr>
          <a:xfrm>
            <a:off x="6790747" y="3982212"/>
            <a:ext cx="184583" cy="412394"/>
          </a:xfrm>
          <a:prstGeom prst="rect">
            <a:avLst/>
          </a:prstGeom>
          <a:solidFill>
            <a:srgbClr val="31D9B9"/>
          </a:solidFill>
          <a:ln/>
        </p:spPr>
      </p:sp>
      <p:sp>
        <p:nvSpPr>
          <p:cNvPr id="63" name="Shape 61"/>
          <p:cNvSpPr/>
          <p:nvPr/>
        </p:nvSpPr>
        <p:spPr>
          <a:xfrm>
            <a:off x="6964357" y="3982212"/>
            <a:ext cx="184583" cy="412394"/>
          </a:xfrm>
          <a:prstGeom prst="rect">
            <a:avLst/>
          </a:prstGeom>
          <a:solidFill>
            <a:srgbClr val="2FD8BE"/>
          </a:solidFill>
          <a:ln/>
        </p:spPr>
      </p:sp>
      <p:sp>
        <p:nvSpPr>
          <p:cNvPr id="64" name="Shape 62"/>
          <p:cNvSpPr/>
          <p:nvPr/>
        </p:nvSpPr>
        <p:spPr>
          <a:xfrm>
            <a:off x="7137967" y="3982212"/>
            <a:ext cx="184583" cy="412394"/>
          </a:xfrm>
          <a:prstGeom prst="rect">
            <a:avLst/>
          </a:prstGeom>
          <a:solidFill>
            <a:srgbClr val="2DD6C4"/>
          </a:solidFill>
          <a:ln/>
        </p:spPr>
      </p:sp>
      <p:sp>
        <p:nvSpPr>
          <p:cNvPr id="65" name="Shape 63"/>
          <p:cNvSpPr/>
          <p:nvPr/>
        </p:nvSpPr>
        <p:spPr>
          <a:xfrm>
            <a:off x="7311578" y="3982212"/>
            <a:ext cx="184583" cy="412394"/>
          </a:xfrm>
          <a:prstGeom prst="rect">
            <a:avLst/>
          </a:prstGeom>
          <a:solidFill>
            <a:srgbClr val="2BD5C9"/>
          </a:solidFill>
          <a:ln/>
        </p:spPr>
      </p:sp>
      <p:sp>
        <p:nvSpPr>
          <p:cNvPr id="66" name="Shape 64"/>
          <p:cNvSpPr/>
          <p:nvPr/>
        </p:nvSpPr>
        <p:spPr>
          <a:xfrm>
            <a:off x="7485188" y="3982212"/>
            <a:ext cx="184583" cy="412394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67" name="Shape 65"/>
          <p:cNvSpPr/>
          <p:nvPr/>
        </p:nvSpPr>
        <p:spPr>
          <a:xfrm>
            <a:off x="4363517" y="4018115"/>
            <a:ext cx="340588" cy="340588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68" name="Shape 66"/>
          <p:cNvSpPr/>
          <p:nvPr/>
        </p:nvSpPr>
        <p:spPr>
          <a:xfrm>
            <a:off x="7488505" y="4018115"/>
            <a:ext cx="340588" cy="340588"/>
          </a:xfrm>
          <a:prstGeom prst="ellipse">
            <a:avLst/>
          </a:prstGeom>
          <a:solidFill>
            <a:srgbClr val="29D3CE"/>
          </a:solidFill>
          <a:ln/>
        </p:spPr>
      </p:sp>
      <p:sp>
        <p:nvSpPr>
          <p:cNvPr id="69" name="Text 67"/>
          <p:cNvSpPr/>
          <p:nvPr/>
        </p:nvSpPr>
        <p:spPr>
          <a:xfrm>
            <a:off x="4160520" y="4020617"/>
            <a:ext cx="3882542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OPEN AGENT HACKATHON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23367" y="6188659"/>
            <a:ext cx="106985" cy="461772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71" name="Text 69"/>
          <p:cNvSpPr/>
          <p:nvPr/>
        </p:nvSpPr>
        <p:spPr>
          <a:xfrm>
            <a:off x="530352" y="6195974"/>
            <a:ext cx="2011680" cy="461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Track 03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open-agent-2026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 rot="5400000">
            <a:off x="11216030" y="4101998"/>
            <a:ext cx="1140257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2026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11785702" y="5116068"/>
            <a:ext cx="0" cy="1534363"/>
          </a:xfrm>
          <a:prstGeom prst="line">
            <a:avLst/>
          </a:prstGeom>
          <a:noFill/>
          <a:ln w="12700">
            <a:solidFill>
              <a:srgbClr val="A5A5A5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556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85239"/>
            <a:ext cx="8059522" cy="3526841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207569"/>
            <a:ext cx="160020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wangwu.ai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74122" y="207569"/>
            <a:ext cx="138623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Page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	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59522" y="645566"/>
            <a:ext cx="4132174" cy="6212434"/>
          </a:xfrm>
          <a:prstGeom prst="rect">
            <a:avLst/>
          </a:prstGeom>
          <a:solidFill>
            <a:srgbClr val="989898"/>
          </a:solidFill>
          <a:ln/>
        </p:spPr>
      </p:sp>
      <p:sp>
        <p:nvSpPr>
          <p:cNvPr id="8" name="Text 6"/>
          <p:cNvSpPr/>
          <p:nvPr/>
        </p:nvSpPr>
        <p:spPr>
          <a:xfrm>
            <a:off x="911657" y="1236269"/>
            <a:ext cx="5338267" cy="707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3E98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 </a:t>
            </a:r>
            <a:r>
              <a:rPr lang="en-US" sz="4000" b="1" dirty="0">
                <a:solidFill>
                  <a:srgbClr val="FFFFFF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&amp; User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58291" y="1982419"/>
            <a:ext cx="2759659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SOLO OPERATOR · HOME CREW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23544" y="2273198"/>
            <a:ext cx="5630875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user: one builder coordinating a home multi-agent crew from one phone surface (HubCards).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8291" y="3558845"/>
            <a:ext cx="326441" cy="326441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12" name="Text 10"/>
          <p:cNvSpPr/>
          <p:nvPr/>
        </p:nvSpPr>
        <p:spPr>
          <a:xfrm>
            <a:off x="958291" y="3558845"/>
            <a:ext cx="326441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51483" y="3558845"/>
            <a:ext cx="237744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HANDOFF LOSS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51483" y="3851453"/>
            <a:ext cx="5202936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Unfinished work, failed paths, and live decisions disappear between named agents.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8291" y="4597603"/>
            <a:ext cx="326441" cy="326441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16" name="Text 14"/>
          <p:cNvSpPr/>
          <p:nvPr/>
        </p:nvSpPr>
        <p:spPr>
          <a:xfrm>
            <a:off x="958291" y="4597603"/>
            <a:ext cx="326441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51483" y="4597603"/>
            <a:ext cx="237744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ALERT SCATTER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51483" y="4890211"/>
            <a:ext cx="5202936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Alerts scatter across IMs. Context dies at handoff — the crew forgets what it already tried.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07585" y="5621731"/>
            <a:ext cx="1393546" cy="0"/>
          </a:xfrm>
          <a:prstGeom prst="line">
            <a:avLst/>
          </a:prstGeom>
          <a:noFill/>
          <a:ln w="12700">
            <a:solidFill>
              <a:srgbClr val="A5A5A5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556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981505"/>
            <a:ext cx="2400300" cy="4876495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5" name="Text 3"/>
          <p:cNvSpPr/>
          <p:nvPr/>
        </p:nvSpPr>
        <p:spPr>
          <a:xfrm>
            <a:off x="530352" y="207569"/>
            <a:ext cx="160020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wangwu.ai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74122" y="207569"/>
            <a:ext cx="138623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Page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	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1022" y="2449678"/>
            <a:ext cx="1393546" cy="0"/>
          </a:xfrm>
          <a:prstGeom prst="line">
            <a:avLst/>
          </a:prstGeom>
          <a:noFill/>
          <a:ln w="12700">
            <a:solidFill>
              <a:srgbClr val="A5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4126" y="2616098"/>
            <a:ext cx="4668926" cy="1323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3E98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</a:t>
            </a:r>
            <a:r>
              <a:rPr lang="en-US" sz="4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Workflow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90372" y="4273906"/>
            <a:ext cx="118186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10" name="Shape 8"/>
          <p:cNvSpPr/>
          <p:nvPr/>
        </p:nvSpPr>
        <p:spPr>
          <a:xfrm>
            <a:off x="797585" y="4273906"/>
            <a:ext cx="118186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11" name="Shape 9"/>
          <p:cNvSpPr/>
          <p:nvPr/>
        </p:nvSpPr>
        <p:spPr>
          <a:xfrm>
            <a:off x="904799" y="4273906"/>
            <a:ext cx="118186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2012" y="4273906"/>
            <a:ext cx="118186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9226" y="4273906"/>
            <a:ext cx="118186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6439" y="4273906"/>
            <a:ext cx="118186" cy="457200"/>
          </a:xfrm>
          <a:prstGeom prst="rect">
            <a:avLst/>
          </a:prstGeom>
          <a:solidFill>
            <a:srgbClr val="42E989"/>
          </a:solidFill>
          <a:ln/>
        </p:spPr>
      </p:sp>
      <p:sp>
        <p:nvSpPr>
          <p:cNvPr id="15" name="Shape 13"/>
          <p:cNvSpPr/>
          <p:nvPr/>
        </p:nvSpPr>
        <p:spPr>
          <a:xfrm>
            <a:off x="1333652" y="4273906"/>
            <a:ext cx="118186" cy="457200"/>
          </a:xfrm>
          <a:prstGeom prst="rect">
            <a:avLst/>
          </a:prstGeom>
          <a:solidFill>
            <a:srgbClr val="41E78C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0866" y="4273906"/>
            <a:ext cx="118186" cy="457200"/>
          </a:xfrm>
          <a:prstGeom prst="rect">
            <a:avLst/>
          </a:prstGeom>
          <a:solidFill>
            <a:srgbClr val="40E690"/>
          </a:solidFill>
          <a:ln/>
        </p:spPr>
      </p:sp>
      <p:sp>
        <p:nvSpPr>
          <p:cNvPr id="17" name="Shape 15"/>
          <p:cNvSpPr/>
          <p:nvPr/>
        </p:nvSpPr>
        <p:spPr>
          <a:xfrm>
            <a:off x="1548079" y="4273906"/>
            <a:ext cx="118186" cy="457200"/>
          </a:xfrm>
          <a:prstGeom prst="rect">
            <a:avLst/>
          </a:prstGeom>
          <a:solidFill>
            <a:srgbClr val="3EE594"/>
          </a:solidFill>
          <a:ln/>
        </p:spPr>
      </p:sp>
      <p:sp>
        <p:nvSpPr>
          <p:cNvPr id="18" name="Shape 16"/>
          <p:cNvSpPr/>
          <p:nvPr/>
        </p:nvSpPr>
        <p:spPr>
          <a:xfrm>
            <a:off x="1655293" y="4273906"/>
            <a:ext cx="118186" cy="457200"/>
          </a:xfrm>
          <a:prstGeom prst="rect">
            <a:avLst/>
          </a:prstGeom>
          <a:solidFill>
            <a:srgbClr val="3DE498"/>
          </a:solidFill>
          <a:ln/>
        </p:spPr>
      </p:sp>
      <p:sp>
        <p:nvSpPr>
          <p:cNvPr id="19" name="Shape 17"/>
          <p:cNvSpPr/>
          <p:nvPr/>
        </p:nvSpPr>
        <p:spPr>
          <a:xfrm>
            <a:off x="1762506" y="4273906"/>
            <a:ext cx="118186" cy="457200"/>
          </a:xfrm>
          <a:prstGeom prst="rect">
            <a:avLst/>
          </a:prstGeom>
          <a:solidFill>
            <a:srgbClr val="3BE39C"/>
          </a:solidFill>
          <a:ln/>
        </p:spPr>
      </p:sp>
      <p:sp>
        <p:nvSpPr>
          <p:cNvPr id="20" name="Shape 18"/>
          <p:cNvSpPr/>
          <p:nvPr/>
        </p:nvSpPr>
        <p:spPr>
          <a:xfrm>
            <a:off x="1869719" y="4273906"/>
            <a:ext cx="118186" cy="457200"/>
          </a:xfrm>
          <a:prstGeom prst="rect">
            <a:avLst/>
          </a:prstGeom>
          <a:solidFill>
            <a:srgbClr val="3AE1A0"/>
          </a:solidFill>
          <a:ln/>
        </p:spPr>
      </p:sp>
      <p:sp>
        <p:nvSpPr>
          <p:cNvPr id="21" name="Shape 19"/>
          <p:cNvSpPr/>
          <p:nvPr/>
        </p:nvSpPr>
        <p:spPr>
          <a:xfrm>
            <a:off x="1976933" y="4273906"/>
            <a:ext cx="118186" cy="457200"/>
          </a:xfrm>
          <a:prstGeom prst="rect">
            <a:avLst/>
          </a:prstGeom>
          <a:solidFill>
            <a:srgbClr val="39E0A4"/>
          </a:solidFill>
          <a:ln/>
        </p:spPr>
      </p:sp>
      <p:sp>
        <p:nvSpPr>
          <p:cNvPr id="22" name="Shape 20"/>
          <p:cNvSpPr/>
          <p:nvPr/>
        </p:nvSpPr>
        <p:spPr>
          <a:xfrm>
            <a:off x="2084146" y="4273906"/>
            <a:ext cx="118186" cy="457200"/>
          </a:xfrm>
          <a:prstGeom prst="rect">
            <a:avLst/>
          </a:prstGeom>
          <a:solidFill>
            <a:srgbClr val="37DFA7"/>
          </a:solidFill>
          <a:ln/>
        </p:spPr>
      </p:sp>
      <p:sp>
        <p:nvSpPr>
          <p:cNvPr id="23" name="Shape 21"/>
          <p:cNvSpPr/>
          <p:nvPr/>
        </p:nvSpPr>
        <p:spPr>
          <a:xfrm>
            <a:off x="2191360" y="4273906"/>
            <a:ext cx="118186" cy="457200"/>
          </a:xfrm>
          <a:prstGeom prst="rect">
            <a:avLst/>
          </a:prstGeom>
          <a:solidFill>
            <a:srgbClr val="36DEAB"/>
          </a:solidFill>
          <a:ln/>
        </p:spPr>
      </p:sp>
      <p:sp>
        <p:nvSpPr>
          <p:cNvPr id="24" name="Shape 22"/>
          <p:cNvSpPr/>
          <p:nvPr/>
        </p:nvSpPr>
        <p:spPr>
          <a:xfrm>
            <a:off x="2298573" y="4273906"/>
            <a:ext cx="118186" cy="457200"/>
          </a:xfrm>
          <a:prstGeom prst="rect">
            <a:avLst/>
          </a:prstGeom>
          <a:solidFill>
            <a:srgbClr val="34DDAF"/>
          </a:solidFill>
          <a:ln/>
        </p:spPr>
      </p:sp>
      <p:sp>
        <p:nvSpPr>
          <p:cNvPr id="25" name="Shape 23"/>
          <p:cNvSpPr/>
          <p:nvPr/>
        </p:nvSpPr>
        <p:spPr>
          <a:xfrm>
            <a:off x="2405786" y="4273906"/>
            <a:ext cx="118186" cy="457200"/>
          </a:xfrm>
          <a:prstGeom prst="rect">
            <a:avLst/>
          </a:prstGeom>
          <a:solidFill>
            <a:srgbClr val="33DB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3000" y="4273906"/>
            <a:ext cx="118186" cy="457200"/>
          </a:xfrm>
          <a:prstGeom prst="rect">
            <a:avLst/>
          </a:prstGeom>
          <a:solidFill>
            <a:srgbClr val="31DAB7"/>
          </a:solidFill>
          <a:ln/>
        </p:spPr>
      </p:sp>
      <p:sp>
        <p:nvSpPr>
          <p:cNvPr id="27" name="Shape 25"/>
          <p:cNvSpPr/>
          <p:nvPr/>
        </p:nvSpPr>
        <p:spPr>
          <a:xfrm>
            <a:off x="2620213" y="4273906"/>
            <a:ext cx="118186" cy="457200"/>
          </a:xfrm>
          <a:prstGeom prst="rect">
            <a:avLst/>
          </a:prstGeom>
          <a:solidFill>
            <a:srgbClr val="30D9BB"/>
          </a:solidFill>
          <a:ln/>
        </p:spPr>
      </p:sp>
      <p:sp>
        <p:nvSpPr>
          <p:cNvPr id="28" name="Shape 26"/>
          <p:cNvSpPr/>
          <p:nvPr/>
        </p:nvSpPr>
        <p:spPr>
          <a:xfrm>
            <a:off x="2727427" y="4273906"/>
            <a:ext cx="118186" cy="457200"/>
          </a:xfrm>
          <a:prstGeom prst="rect">
            <a:avLst/>
          </a:prstGeom>
          <a:solidFill>
            <a:srgbClr val="2FD8BF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4273906"/>
            <a:ext cx="118186" cy="457200"/>
          </a:xfrm>
          <a:prstGeom prst="rect">
            <a:avLst/>
          </a:prstGeom>
          <a:solidFill>
            <a:srgbClr val="2DD7C2"/>
          </a:solidFill>
          <a:ln/>
        </p:spPr>
      </p:sp>
      <p:sp>
        <p:nvSpPr>
          <p:cNvPr id="30" name="Shape 28"/>
          <p:cNvSpPr/>
          <p:nvPr/>
        </p:nvSpPr>
        <p:spPr>
          <a:xfrm>
            <a:off x="2941853" y="4273906"/>
            <a:ext cx="118186" cy="457200"/>
          </a:xfrm>
          <a:prstGeom prst="rect">
            <a:avLst/>
          </a:prstGeom>
          <a:solidFill>
            <a:srgbClr val="2CD5C6"/>
          </a:solidFill>
          <a:ln/>
        </p:spPr>
      </p:sp>
      <p:sp>
        <p:nvSpPr>
          <p:cNvPr id="31" name="Shape 29"/>
          <p:cNvSpPr/>
          <p:nvPr/>
        </p:nvSpPr>
        <p:spPr>
          <a:xfrm>
            <a:off x="3049067" y="4273906"/>
            <a:ext cx="118186" cy="457200"/>
          </a:xfrm>
          <a:prstGeom prst="rect">
            <a:avLst/>
          </a:prstGeom>
          <a:solidFill>
            <a:srgbClr val="2AD4CA"/>
          </a:solidFill>
          <a:ln/>
        </p:spPr>
      </p:sp>
      <p:sp>
        <p:nvSpPr>
          <p:cNvPr id="32" name="Shape 30"/>
          <p:cNvSpPr/>
          <p:nvPr/>
        </p:nvSpPr>
        <p:spPr>
          <a:xfrm>
            <a:off x="3156280" y="4273906"/>
            <a:ext cx="118186" cy="457200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33" name="Text 31"/>
          <p:cNvSpPr/>
          <p:nvPr/>
        </p:nvSpPr>
        <p:spPr>
          <a:xfrm>
            <a:off x="803758" y="4298594"/>
            <a:ext cx="2347265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HUBCREW LOOP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281574" y="1331366"/>
            <a:ext cx="326441" cy="326441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35" name="Text 33"/>
          <p:cNvSpPr/>
          <p:nvPr/>
        </p:nvSpPr>
        <p:spPr>
          <a:xfrm>
            <a:off x="5281574" y="1331366"/>
            <a:ext cx="326441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73852" y="1331366"/>
            <a:ext cx="210312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01 ADDRESS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73852" y="1623974"/>
            <a:ext cx="2568550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Address a named agent from the HubCards surface.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42325" y="1331366"/>
            <a:ext cx="326441" cy="326441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39" name="Text 37"/>
          <p:cNvSpPr/>
          <p:nvPr/>
        </p:nvSpPr>
        <p:spPr>
          <a:xfrm>
            <a:off x="8542325" y="1331366"/>
            <a:ext cx="326441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34602" y="1331366"/>
            <a:ext cx="210312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02 INHERIT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34602" y="1623974"/>
            <a:ext cx="2568550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Inherit Constitution G1 decision preferences from prior turns.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281574" y="2982773"/>
            <a:ext cx="326441" cy="326441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43" name="Text 41"/>
          <p:cNvSpPr/>
          <p:nvPr/>
        </p:nvSpPr>
        <p:spPr>
          <a:xfrm>
            <a:off x="5281574" y="2982773"/>
            <a:ext cx="326441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673852" y="2982773"/>
            <a:ext cx="210312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03 HANDOFF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73852" y="3275381"/>
            <a:ext cx="2568550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Carry unfinished work, failed paths, and still-valid live decisions.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542325" y="2982773"/>
            <a:ext cx="326441" cy="326441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47" name="Text 45"/>
          <p:cNvSpPr/>
          <p:nvPr/>
        </p:nvSpPr>
        <p:spPr>
          <a:xfrm>
            <a:off x="8542325" y="2982773"/>
            <a:ext cx="326441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34602" y="2982773"/>
            <a:ext cx="210312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04 H-MEM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934602" y="3275381"/>
            <a:ext cx="2568550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Reason with Meterless H-MEM (ask / remember) for provenance.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281574" y="4633265"/>
            <a:ext cx="326441" cy="326441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51" name="Text 49"/>
          <p:cNvSpPr/>
          <p:nvPr/>
        </p:nvSpPr>
        <p:spPr>
          <a:xfrm>
            <a:off x="5281574" y="4633265"/>
            <a:ext cx="326441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673852" y="4633265"/>
            <a:ext cx="210312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05 ZETARIS · LIVE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673852" y="4925873"/>
            <a:ext cx="2568550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SQL verified (9/9): 5 TPCDS reason rows inform demo handoff priorities.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542325" y="4633265"/>
            <a:ext cx="326441" cy="326441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55" name="Text 53"/>
          <p:cNvSpPr/>
          <p:nvPr/>
        </p:nvSpPr>
        <p:spPr>
          <a:xfrm>
            <a:off x="8542325" y="4633265"/>
            <a:ext cx="326441" cy="326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934602" y="4633265"/>
            <a:ext cx="210312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06 ACT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934602" y="4925873"/>
            <a:ext cx="2568550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 on HubCards; Telegram remains the urgent fallback until push ships.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23367" y="6188659"/>
            <a:ext cx="106985" cy="461772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59" name="Text 57"/>
          <p:cNvSpPr/>
          <p:nvPr/>
        </p:nvSpPr>
        <p:spPr>
          <a:xfrm>
            <a:off x="530352" y="6195974"/>
            <a:ext cx="1293876" cy="461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Track 03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HubCrew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556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139282"/>
            <a:ext cx="518960" cy="14539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6139282"/>
            <a:ext cx="518960" cy="14539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6" name="Shape 4"/>
          <p:cNvSpPr/>
          <p:nvPr/>
        </p:nvSpPr>
        <p:spPr>
          <a:xfrm>
            <a:off x="1015975" y="6139282"/>
            <a:ext cx="518960" cy="14539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7" name="Shape 5"/>
          <p:cNvSpPr/>
          <p:nvPr/>
        </p:nvSpPr>
        <p:spPr>
          <a:xfrm>
            <a:off x="1523962" y="6139282"/>
            <a:ext cx="518960" cy="14539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8" name="Shape 6"/>
          <p:cNvSpPr/>
          <p:nvPr/>
        </p:nvSpPr>
        <p:spPr>
          <a:xfrm>
            <a:off x="2031949" y="6139282"/>
            <a:ext cx="518960" cy="14539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9" name="Shape 7"/>
          <p:cNvSpPr/>
          <p:nvPr/>
        </p:nvSpPr>
        <p:spPr>
          <a:xfrm>
            <a:off x="2539937" y="6139282"/>
            <a:ext cx="518960" cy="145390"/>
          </a:xfrm>
          <a:prstGeom prst="rect">
            <a:avLst/>
          </a:prstGeom>
          <a:solidFill>
            <a:srgbClr val="42E989"/>
          </a:solidFill>
          <a:ln/>
        </p:spPr>
      </p:sp>
      <p:sp>
        <p:nvSpPr>
          <p:cNvPr id="10" name="Shape 8"/>
          <p:cNvSpPr/>
          <p:nvPr/>
        </p:nvSpPr>
        <p:spPr>
          <a:xfrm>
            <a:off x="3047924" y="6139282"/>
            <a:ext cx="518960" cy="145390"/>
          </a:xfrm>
          <a:prstGeom prst="rect">
            <a:avLst/>
          </a:prstGeom>
          <a:solidFill>
            <a:srgbClr val="41E78C"/>
          </a:solidFill>
          <a:ln/>
        </p:spPr>
      </p:sp>
      <p:sp>
        <p:nvSpPr>
          <p:cNvPr id="11" name="Shape 9"/>
          <p:cNvSpPr/>
          <p:nvPr/>
        </p:nvSpPr>
        <p:spPr>
          <a:xfrm>
            <a:off x="3555911" y="6139282"/>
            <a:ext cx="518960" cy="145390"/>
          </a:xfrm>
          <a:prstGeom prst="rect">
            <a:avLst/>
          </a:prstGeom>
          <a:solidFill>
            <a:srgbClr val="40E690"/>
          </a:solidFill>
          <a:ln/>
        </p:spPr>
      </p:sp>
      <p:sp>
        <p:nvSpPr>
          <p:cNvPr id="12" name="Shape 10"/>
          <p:cNvSpPr/>
          <p:nvPr/>
        </p:nvSpPr>
        <p:spPr>
          <a:xfrm>
            <a:off x="4063898" y="6139282"/>
            <a:ext cx="518960" cy="145390"/>
          </a:xfrm>
          <a:prstGeom prst="rect">
            <a:avLst/>
          </a:prstGeom>
          <a:solidFill>
            <a:srgbClr val="3EE59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1886" y="6139282"/>
            <a:ext cx="518960" cy="145390"/>
          </a:xfrm>
          <a:prstGeom prst="rect">
            <a:avLst/>
          </a:prstGeom>
          <a:solidFill>
            <a:srgbClr val="3DE498"/>
          </a:solidFill>
          <a:ln/>
        </p:spPr>
      </p:sp>
      <p:sp>
        <p:nvSpPr>
          <p:cNvPr id="14" name="Shape 12"/>
          <p:cNvSpPr/>
          <p:nvPr/>
        </p:nvSpPr>
        <p:spPr>
          <a:xfrm>
            <a:off x="5079873" y="6139282"/>
            <a:ext cx="518960" cy="145390"/>
          </a:xfrm>
          <a:prstGeom prst="rect">
            <a:avLst/>
          </a:prstGeom>
          <a:solidFill>
            <a:srgbClr val="3BE39C"/>
          </a:solidFill>
          <a:ln/>
        </p:spPr>
      </p:sp>
      <p:sp>
        <p:nvSpPr>
          <p:cNvPr id="15" name="Shape 13"/>
          <p:cNvSpPr/>
          <p:nvPr/>
        </p:nvSpPr>
        <p:spPr>
          <a:xfrm>
            <a:off x="5587860" y="6139282"/>
            <a:ext cx="518960" cy="145390"/>
          </a:xfrm>
          <a:prstGeom prst="rect">
            <a:avLst/>
          </a:prstGeom>
          <a:solidFill>
            <a:srgbClr val="3AE1A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6139282"/>
            <a:ext cx="518960" cy="145390"/>
          </a:xfrm>
          <a:prstGeom prst="rect">
            <a:avLst/>
          </a:prstGeom>
          <a:solidFill>
            <a:srgbClr val="39E0A4"/>
          </a:solidFill>
          <a:ln/>
        </p:spPr>
      </p:sp>
      <p:sp>
        <p:nvSpPr>
          <p:cNvPr id="17" name="Shape 15"/>
          <p:cNvSpPr/>
          <p:nvPr/>
        </p:nvSpPr>
        <p:spPr>
          <a:xfrm>
            <a:off x="6603835" y="6139282"/>
            <a:ext cx="518960" cy="145390"/>
          </a:xfrm>
          <a:prstGeom prst="rect">
            <a:avLst/>
          </a:prstGeom>
          <a:solidFill>
            <a:srgbClr val="37DFA7"/>
          </a:solidFill>
          <a:ln/>
        </p:spPr>
      </p:sp>
      <p:sp>
        <p:nvSpPr>
          <p:cNvPr id="18" name="Shape 16"/>
          <p:cNvSpPr/>
          <p:nvPr/>
        </p:nvSpPr>
        <p:spPr>
          <a:xfrm>
            <a:off x="7111822" y="6139282"/>
            <a:ext cx="518960" cy="145390"/>
          </a:xfrm>
          <a:prstGeom prst="rect">
            <a:avLst/>
          </a:prstGeom>
          <a:solidFill>
            <a:srgbClr val="36DEAB"/>
          </a:solidFill>
          <a:ln/>
        </p:spPr>
      </p:sp>
      <p:sp>
        <p:nvSpPr>
          <p:cNvPr id="19" name="Shape 17"/>
          <p:cNvSpPr/>
          <p:nvPr/>
        </p:nvSpPr>
        <p:spPr>
          <a:xfrm>
            <a:off x="7619810" y="6139282"/>
            <a:ext cx="518960" cy="145390"/>
          </a:xfrm>
          <a:prstGeom prst="rect">
            <a:avLst/>
          </a:prstGeom>
          <a:solidFill>
            <a:srgbClr val="34DDAF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7797" y="6139282"/>
            <a:ext cx="518960" cy="145390"/>
          </a:xfrm>
          <a:prstGeom prst="rect">
            <a:avLst/>
          </a:prstGeom>
          <a:solidFill>
            <a:srgbClr val="33DBB3"/>
          </a:solidFill>
          <a:ln/>
        </p:spPr>
      </p:sp>
      <p:sp>
        <p:nvSpPr>
          <p:cNvPr id="21" name="Shape 19"/>
          <p:cNvSpPr/>
          <p:nvPr/>
        </p:nvSpPr>
        <p:spPr>
          <a:xfrm>
            <a:off x="8635784" y="6139282"/>
            <a:ext cx="518960" cy="145390"/>
          </a:xfrm>
          <a:prstGeom prst="rect">
            <a:avLst/>
          </a:prstGeom>
          <a:solidFill>
            <a:srgbClr val="31DAB7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3771" y="6139282"/>
            <a:ext cx="518960" cy="145390"/>
          </a:xfrm>
          <a:prstGeom prst="rect">
            <a:avLst/>
          </a:prstGeom>
          <a:solidFill>
            <a:srgbClr val="30D9BB"/>
          </a:solidFill>
          <a:ln/>
        </p:spPr>
      </p:sp>
      <p:sp>
        <p:nvSpPr>
          <p:cNvPr id="23" name="Shape 21"/>
          <p:cNvSpPr/>
          <p:nvPr/>
        </p:nvSpPr>
        <p:spPr>
          <a:xfrm>
            <a:off x="9651759" y="6139282"/>
            <a:ext cx="518960" cy="145390"/>
          </a:xfrm>
          <a:prstGeom prst="rect">
            <a:avLst/>
          </a:prstGeom>
          <a:solidFill>
            <a:srgbClr val="2FD8B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59746" y="6139282"/>
            <a:ext cx="518960" cy="145390"/>
          </a:xfrm>
          <a:prstGeom prst="rect">
            <a:avLst/>
          </a:prstGeom>
          <a:solidFill>
            <a:srgbClr val="2DD7C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67733" y="6139282"/>
            <a:ext cx="518960" cy="145390"/>
          </a:xfrm>
          <a:prstGeom prst="rect">
            <a:avLst/>
          </a:prstGeom>
          <a:solidFill>
            <a:srgbClr val="2CD5C6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75721" y="6139282"/>
            <a:ext cx="518960" cy="145390"/>
          </a:xfrm>
          <a:prstGeom prst="rect">
            <a:avLst/>
          </a:prstGeom>
          <a:solidFill>
            <a:srgbClr val="2AD4CA"/>
          </a:solidFill>
          <a:ln/>
        </p:spPr>
      </p:sp>
      <p:sp>
        <p:nvSpPr>
          <p:cNvPr id="27" name="Shape 25"/>
          <p:cNvSpPr/>
          <p:nvPr/>
        </p:nvSpPr>
        <p:spPr>
          <a:xfrm>
            <a:off x="11683708" y="6139282"/>
            <a:ext cx="518960" cy="145390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07569"/>
            <a:ext cx="160020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wangwu.ai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74122" y="207569"/>
            <a:ext cx="138623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Page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	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61842" y="927202"/>
            <a:ext cx="4668926" cy="1323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3E98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 </a:t>
            </a:r>
            <a:r>
              <a:rPr lang="en-US" sz="4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Layers</a:t>
            </a:r>
            <a:endParaRPr lang="en-US" sz="4000" dirty="0"/>
          </a:p>
        </p:txBody>
      </p:sp>
      <p:sp>
        <p:nvSpPr>
          <p:cNvPr id="31" name="Shape 29"/>
          <p:cNvSpPr/>
          <p:nvPr/>
        </p:nvSpPr>
        <p:spPr>
          <a:xfrm>
            <a:off x="4993538" y="2418588"/>
            <a:ext cx="2204618" cy="360274"/>
          </a:xfrm>
          <a:prstGeom prst="roundRect">
            <a:avLst>
              <a:gd name="adj" fmla="val 41294"/>
            </a:avLst>
          </a:prstGeom>
          <a:ln w="12700">
            <a:solidFill>
              <a:srgbClr val="43E9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3538" y="2418588"/>
            <a:ext cx="2204618" cy="360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LAYERS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94383" y="3543300"/>
            <a:ext cx="959206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8D8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1000354" y="4379976"/>
            <a:ext cx="2348179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HubCards as the human entry — default surface for agent alerts.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30552" y="5622646"/>
            <a:ext cx="0" cy="511150"/>
          </a:xfrm>
          <a:prstGeom prst="line">
            <a:avLst/>
          </a:prstGeom>
          <a:noFill/>
          <a:ln w="12700">
            <a:solidFill>
              <a:srgbClr val="A5A5A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03450" y="5369357"/>
            <a:ext cx="254203" cy="254203"/>
          </a:xfrm>
          <a:prstGeom prst="ellipse">
            <a:avLst/>
          </a:prstGeom>
          <a:solidFill>
            <a:srgbClr val="39E1A2"/>
          </a:solidFill>
          <a:ln/>
        </p:spPr>
      </p:sp>
      <p:sp>
        <p:nvSpPr>
          <p:cNvPr id="37" name="Text 35"/>
          <p:cNvSpPr/>
          <p:nvPr/>
        </p:nvSpPr>
        <p:spPr>
          <a:xfrm>
            <a:off x="4336085" y="3543300"/>
            <a:ext cx="959206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8D8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4800" dirty="0"/>
          </a:p>
        </p:txBody>
      </p:sp>
      <p:sp>
        <p:nvSpPr>
          <p:cNvPr id="38" name="Text 36"/>
          <p:cNvSpPr/>
          <p:nvPr/>
        </p:nvSpPr>
        <p:spPr>
          <a:xfrm>
            <a:off x="3642055" y="4379976"/>
            <a:ext cx="2348179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agent = own entry + its own task scheduler.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16145" y="5622646"/>
            <a:ext cx="0" cy="511150"/>
          </a:xfrm>
          <a:prstGeom prst="line">
            <a:avLst/>
          </a:prstGeom>
          <a:noFill/>
          <a:ln w="12700">
            <a:solidFill>
              <a:srgbClr val="A5A5A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9043" y="5496458"/>
            <a:ext cx="254203" cy="254203"/>
          </a:xfrm>
          <a:prstGeom prst="ellipse">
            <a:avLst/>
          </a:prstGeom>
          <a:solidFill>
            <a:srgbClr val="39E1A2"/>
          </a:solidFill>
          <a:ln/>
        </p:spPr>
      </p:sp>
      <p:sp>
        <p:nvSpPr>
          <p:cNvPr id="41" name="Text 39"/>
          <p:cNvSpPr/>
          <p:nvPr/>
        </p:nvSpPr>
        <p:spPr>
          <a:xfrm>
            <a:off x="6977786" y="3543300"/>
            <a:ext cx="959206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8D8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4800" dirty="0"/>
          </a:p>
        </p:txBody>
      </p:sp>
      <p:sp>
        <p:nvSpPr>
          <p:cNvPr id="42" name="Text 40"/>
          <p:cNvSpPr/>
          <p:nvPr/>
        </p:nvSpPr>
        <p:spPr>
          <a:xfrm>
            <a:off x="6283757" y="4379976"/>
            <a:ext cx="2348179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Collaboration layer above: naming and handoff, outside the agent core.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57846" y="5622646"/>
            <a:ext cx="0" cy="511150"/>
          </a:xfrm>
          <a:prstGeom prst="line">
            <a:avLst/>
          </a:prstGeom>
          <a:noFill/>
          <a:ln w="12700">
            <a:solidFill>
              <a:srgbClr val="A5A5A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30745" y="5369357"/>
            <a:ext cx="254203" cy="254203"/>
          </a:xfrm>
          <a:prstGeom prst="ellipse">
            <a:avLst/>
          </a:prstGeom>
          <a:solidFill>
            <a:srgbClr val="39E1A2"/>
          </a:solidFill>
          <a:ln/>
        </p:spPr>
      </p:sp>
      <p:sp>
        <p:nvSpPr>
          <p:cNvPr id="45" name="Text 43"/>
          <p:cNvSpPr/>
          <p:nvPr/>
        </p:nvSpPr>
        <p:spPr>
          <a:xfrm>
            <a:off x="9619488" y="3543300"/>
            <a:ext cx="959206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8D8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4800" dirty="0"/>
          </a:p>
        </p:txBody>
      </p:sp>
      <p:sp>
        <p:nvSpPr>
          <p:cNvPr id="46" name="Text 44"/>
          <p:cNvSpPr/>
          <p:nvPr/>
        </p:nvSpPr>
        <p:spPr>
          <a:xfrm>
            <a:off x="8925458" y="4379976"/>
            <a:ext cx="2348179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Constitution G1 package: unfinished work, failed paths, live decisions + prefs.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140696" y="5622646"/>
            <a:ext cx="0" cy="511150"/>
          </a:xfrm>
          <a:prstGeom prst="line">
            <a:avLst/>
          </a:prstGeom>
          <a:noFill/>
          <a:ln w="12700">
            <a:solidFill>
              <a:srgbClr val="A5A5A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13594" y="5496458"/>
            <a:ext cx="254203" cy="254203"/>
          </a:xfrm>
          <a:prstGeom prst="ellipse">
            <a:avLst/>
          </a:prstGeom>
          <a:solidFill>
            <a:srgbClr val="39E1A2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556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79546"/>
            <a:ext cx="518960" cy="14539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3679546"/>
            <a:ext cx="518960" cy="14539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6" name="Shape 4"/>
          <p:cNvSpPr/>
          <p:nvPr/>
        </p:nvSpPr>
        <p:spPr>
          <a:xfrm>
            <a:off x="1015975" y="3679546"/>
            <a:ext cx="518960" cy="14539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7" name="Shape 5"/>
          <p:cNvSpPr/>
          <p:nvPr/>
        </p:nvSpPr>
        <p:spPr>
          <a:xfrm>
            <a:off x="1523962" y="3679546"/>
            <a:ext cx="518960" cy="14539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8" name="Shape 6"/>
          <p:cNvSpPr/>
          <p:nvPr/>
        </p:nvSpPr>
        <p:spPr>
          <a:xfrm>
            <a:off x="2031949" y="3679546"/>
            <a:ext cx="518960" cy="14539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9" name="Shape 7"/>
          <p:cNvSpPr/>
          <p:nvPr/>
        </p:nvSpPr>
        <p:spPr>
          <a:xfrm>
            <a:off x="2539937" y="3679546"/>
            <a:ext cx="518960" cy="145390"/>
          </a:xfrm>
          <a:prstGeom prst="rect">
            <a:avLst/>
          </a:prstGeom>
          <a:solidFill>
            <a:srgbClr val="42E989"/>
          </a:solidFill>
          <a:ln/>
        </p:spPr>
      </p:sp>
      <p:sp>
        <p:nvSpPr>
          <p:cNvPr id="10" name="Shape 8"/>
          <p:cNvSpPr/>
          <p:nvPr/>
        </p:nvSpPr>
        <p:spPr>
          <a:xfrm>
            <a:off x="3047924" y="3679546"/>
            <a:ext cx="518960" cy="145390"/>
          </a:xfrm>
          <a:prstGeom prst="rect">
            <a:avLst/>
          </a:prstGeom>
          <a:solidFill>
            <a:srgbClr val="41E78C"/>
          </a:solidFill>
          <a:ln/>
        </p:spPr>
      </p:sp>
      <p:sp>
        <p:nvSpPr>
          <p:cNvPr id="11" name="Shape 9"/>
          <p:cNvSpPr/>
          <p:nvPr/>
        </p:nvSpPr>
        <p:spPr>
          <a:xfrm>
            <a:off x="3555911" y="3679546"/>
            <a:ext cx="518960" cy="145390"/>
          </a:xfrm>
          <a:prstGeom prst="rect">
            <a:avLst/>
          </a:prstGeom>
          <a:solidFill>
            <a:srgbClr val="40E690"/>
          </a:solidFill>
          <a:ln/>
        </p:spPr>
      </p:sp>
      <p:sp>
        <p:nvSpPr>
          <p:cNvPr id="12" name="Shape 10"/>
          <p:cNvSpPr/>
          <p:nvPr/>
        </p:nvSpPr>
        <p:spPr>
          <a:xfrm>
            <a:off x="4063898" y="3679546"/>
            <a:ext cx="518960" cy="145390"/>
          </a:xfrm>
          <a:prstGeom prst="rect">
            <a:avLst/>
          </a:prstGeom>
          <a:solidFill>
            <a:srgbClr val="3EE59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1886" y="3679546"/>
            <a:ext cx="518960" cy="145390"/>
          </a:xfrm>
          <a:prstGeom prst="rect">
            <a:avLst/>
          </a:prstGeom>
          <a:solidFill>
            <a:srgbClr val="3DE498"/>
          </a:solidFill>
          <a:ln/>
        </p:spPr>
      </p:sp>
      <p:sp>
        <p:nvSpPr>
          <p:cNvPr id="14" name="Shape 12"/>
          <p:cNvSpPr/>
          <p:nvPr/>
        </p:nvSpPr>
        <p:spPr>
          <a:xfrm>
            <a:off x="5079873" y="3679546"/>
            <a:ext cx="518960" cy="145390"/>
          </a:xfrm>
          <a:prstGeom prst="rect">
            <a:avLst/>
          </a:prstGeom>
          <a:solidFill>
            <a:srgbClr val="3BE39C"/>
          </a:solidFill>
          <a:ln/>
        </p:spPr>
      </p:sp>
      <p:sp>
        <p:nvSpPr>
          <p:cNvPr id="15" name="Shape 13"/>
          <p:cNvSpPr/>
          <p:nvPr/>
        </p:nvSpPr>
        <p:spPr>
          <a:xfrm>
            <a:off x="5587860" y="3679546"/>
            <a:ext cx="518960" cy="145390"/>
          </a:xfrm>
          <a:prstGeom prst="rect">
            <a:avLst/>
          </a:prstGeom>
          <a:solidFill>
            <a:srgbClr val="3AE1A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3679546"/>
            <a:ext cx="518960" cy="145390"/>
          </a:xfrm>
          <a:prstGeom prst="rect">
            <a:avLst/>
          </a:prstGeom>
          <a:solidFill>
            <a:srgbClr val="39E0A4"/>
          </a:solidFill>
          <a:ln/>
        </p:spPr>
      </p:sp>
      <p:sp>
        <p:nvSpPr>
          <p:cNvPr id="17" name="Shape 15"/>
          <p:cNvSpPr/>
          <p:nvPr/>
        </p:nvSpPr>
        <p:spPr>
          <a:xfrm>
            <a:off x="6603835" y="3679546"/>
            <a:ext cx="518960" cy="145390"/>
          </a:xfrm>
          <a:prstGeom prst="rect">
            <a:avLst/>
          </a:prstGeom>
          <a:solidFill>
            <a:srgbClr val="37DFA7"/>
          </a:solidFill>
          <a:ln/>
        </p:spPr>
      </p:sp>
      <p:sp>
        <p:nvSpPr>
          <p:cNvPr id="18" name="Shape 16"/>
          <p:cNvSpPr/>
          <p:nvPr/>
        </p:nvSpPr>
        <p:spPr>
          <a:xfrm>
            <a:off x="7111822" y="3679546"/>
            <a:ext cx="518960" cy="145390"/>
          </a:xfrm>
          <a:prstGeom prst="rect">
            <a:avLst/>
          </a:prstGeom>
          <a:solidFill>
            <a:srgbClr val="36DEAB"/>
          </a:solidFill>
          <a:ln/>
        </p:spPr>
      </p:sp>
      <p:sp>
        <p:nvSpPr>
          <p:cNvPr id="19" name="Shape 17"/>
          <p:cNvSpPr/>
          <p:nvPr/>
        </p:nvSpPr>
        <p:spPr>
          <a:xfrm>
            <a:off x="7619810" y="3679546"/>
            <a:ext cx="518960" cy="145390"/>
          </a:xfrm>
          <a:prstGeom prst="rect">
            <a:avLst/>
          </a:prstGeom>
          <a:solidFill>
            <a:srgbClr val="34DDAF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7797" y="3679546"/>
            <a:ext cx="518960" cy="145390"/>
          </a:xfrm>
          <a:prstGeom prst="rect">
            <a:avLst/>
          </a:prstGeom>
          <a:solidFill>
            <a:srgbClr val="33DBB3"/>
          </a:solidFill>
          <a:ln/>
        </p:spPr>
      </p:sp>
      <p:sp>
        <p:nvSpPr>
          <p:cNvPr id="21" name="Shape 19"/>
          <p:cNvSpPr/>
          <p:nvPr/>
        </p:nvSpPr>
        <p:spPr>
          <a:xfrm>
            <a:off x="8635784" y="3679546"/>
            <a:ext cx="518960" cy="145390"/>
          </a:xfrm>
          <a:prstGeom prst="rect">
            <a:avLst/>
          </a:prstGeom>
          <a:solidFill>
            <a:srgbClr val="31DAB7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3771" y="3679546"/>
            <a:ext cx="518960" cy="145390"/>
          </a:xfrm>
          <a:prstGeom prst="rect">
            <a:avLst/>
          </a:prstGeom>
          <a:solidFill>
            <a:srgbClr val="30D9BB"/>
          </a:solidFill>
          <a:ln/>
        </p:spPr>
      </p:sp>
      <p:sp>
        <p:nvSpPr>
          <p:cNvPr id="23" name="Shape 21"/>
          <p:cNvSpPr/>
          <p:nvPr/>
        </p:nvSpPr>
        <p:spPr>
          <a:xfrm>
            <a:off x="9651759" y="3679546"/>
            <a:ext cx="518960" cy="145390"/>
          </a:xfrm>
          <a:prstGeom prst="rect">
            <a:avLst/>
          </a:prstGeom>
          <a:solidFill>
            <a:srgbClr val="2FD8B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59746" y="3679546"/>
            <a:ext cx="518960" cy="145390"/>
          </a:xfrm>
          <a:prstGeom prst="rect">
            <a:avLst/>
          </a:prstGeom>
          <a:solidFill>
            <a:srgbClr val="2DD7C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67733" y="3679546"/>
            <a:ext cx="518960" cy="145390"/>
          </a:xfrm>
          <a:prstGeom prst="rect">
            <a:avLst/>
          </a:prstGeom>
          <a:solidFill>
            <a:srgbClr val="2CD5C6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75721" y="3679546"/>
            <a:ext cx="518960" cy="145390"/>
          </a:xfrm>
          <a:prstGeom prst="rect">
            <a:avLst/>
          </a:prstGeom>
          <a:solidFill>
            <a:srgbClr val="2AD4CA"/>
          </a:solidFill>
          <a:ln/>
        </p:spPr>
      </p:sp>
      <p:sp>
        <p:nvSpPr>
          <p:cNvPr id="27" name="Shape 25"/>
          <p:cNvSpPr/>
          <p:nvPr/>
        </p:nvSpPr>
        <p:spPr>
          <a:xfrm>
            <a:off x="11683708" y="3679546"/>
            <a:ext cx="518960" cy="145390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07569"/>
            <a:ext cx="160020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wangwu.ai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74122" y="207569"/>
            <a:ext cx="138623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Page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	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64601" y="1348740"/>
            <a:ext cx="2499970" cy="2328977"/>
          </a:xfrm>
          <a:prstGeom prst="rect">
            <a:avLst/>
          </a:prstGeom>
          <a:solidFill>
            <a:srgbClr val="989898"/>
          </a:solidFill>
          <a:ln/>
        </p:spPr>
      </p:sp>
      <p:sp>
        <p:nvSpPr>
          <p:cNvPr id="31" name="Shape 29"/>
          <p:cNvSpPr/>
          <p:nvPr/>
        </p:nvSpPr>
        <p:spPr>
          <a:xfrm>
            <a:off x="1227125" y="3824935"/>
            <a:ext cx="2499970" cy="2328977"/>
          </a:xfrm>
          <a:prstGeom prst="rect">
            <a:avLst/>
          </a:prstGeom>
          <a:solidFill>
            <a:srgbClr val="989898"/>
          </a:solidFill>
          <a:ln/>
        </p:spPr>
      </p:sp>
      <p:sp>
        <p:nvSpPr>
          <p:cNvPr id="32" name="Text 30"/>
          <p:cNvSpPr/>
          <p:nvPr/>
        </p:nvSpPr>
        <p:spPr>
          <a:xfrm>
            <a:off x="1827886" y="1348740"/>
            <a:ext cx="237744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LIVE GOVERNED READ SQL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27886" y="1625803"/>
            <a:ext cx="6361481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Zetaris is live on Mac mini at localhost:3000. Sample facts precede the demo priority mapping: reason sk=2 → P0; sk=1/5 → P1; sk=3/4 → P2. Supplied samples; not production telemetry.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1479" y="3200400"/>
            <a:ext cx="2573122" cy="4572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5" name="Text 33"/>
          <p:cNvSpPr/>
          <p:nvPr/>
        </p:nvSpPr>
        <p:spPr>
          <a:xfrm>
            <a:off x="6166714" y="3290926"/>
            <a:ext cx="219456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LIVE DATA PLANE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24474" y="2856586"/>
            <a:ext cx="96584" cy="580644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37" name="Shape 35"/>
          <p:cNvSpPr/>
          <p:nvPr/>
        </p:nvSpPr>
        <p:spPr>
          <a:xfrm>
            <a:off x="5710085" y="2856586"/>
            <a:ext cx="96584" cy="580644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38" name="Shape 36"/>
          <p:cNvSpPr/>
          <p:nvPr/>
        </p:nvSpPr>
        <p:spPr>
          <a:xfrm>
            <a:off x="5795696" y="2856586"/>
            <a:ext cx="96584" cy="580644"/>
          </a:xfrm>
          <a:prstGeom prst="rect">
            <a:avLst/>
          </a:prstGeom>
          <a:solidFill>
            <a:srgbClr val="40E78F"/>
          </a:solidFill>
          <a:ln/>
        </p:spPr>
      </p:sp>
      <p:sp>
        <p:nvSpPr>
          <p:cNvPr id="39" name="Shape 37"/>
          <p:cNvSpPr/>
          <p:nvPr/>
        </p:nvSpPr>
        <p:spPr>
          <a:xfrm>
            <a:off x="5881307" y="2856586"/>
            <a:ext cx="96584" cy="580644"/>
          </a:xfrm>
          <a:prstGeom prst="rect">
            <a:avLst/>
          </a:prstGeom>
          <a:solidFill>
            <a:srgbClr val="3CE39B"/>
          </a:solidFill>
          <a:ln/>
        </p:spPr>
      </p:sp>
      <p:sp>
        <p:nvSpPr>
          <p:cNvPr id="40" name="Shape 38"/>
          <p:cNvSpPr/>
          <p:nvPr/>
        </p:nvSpPr>
        <p:spPr>
          <a:xfrm>
            <a:off x="5966917" y="2856586"/>
            <a:ext cx="96584" cy="580644"/>
          </a:xfrm>
          <a:prstGeom prst="rect">
            <a:avLst/>
          </a:prstGeom>
          <a:solidFill>
            <a:srgbClr val="37DFA8"/>
          </a:solidFill>
          <a:ln/>
        </p:spPr>
      </p:sp>
      <p:sp>
        <p:nvSpPr>
          <p:cNvPr id="41" name="Shape 39"/>
          <p:cNvSpPr/>
          <p:nvPr/>
        </p:nvSpPr>
        <p:spPr>
          <a:xfrm>
            <a:off x="6052528" y="2856586"/>
            <a:ext cx="96584" cy="580644"/>
          </a:xfrm>
          <a:prstGeom prst="rect">
            <a:avLst/>
          </a:prstGeom>
          <a:solidFill>
            <a:srgbClr val="32DBB5"/>
          </a:solidFill>
          <a:ln/>
        </p:spPr>
      </p:sp>
      <p:sp>
        <p:nvSpPr>
          <p:cNvPr id="42" name="Shape 40"/>
          <p:cNvSpPr/>
          <p:nvPr/>
        </p:nvSpPr>
        <p:spPr>
          <a:xfrm>
            <a:off x="6138139" y="2856586"/>
            <a:ext cx="96584" cy="580644"/>
          </a:xfrm>
          <a:prstGeom prst="rect">
            <a:avLst/>
          </a:prstGeom>
          <a:solidFill>
            <a:srgbClr val="2ED7C1"/>
          </a:solidFill>
          <a:ln/>
        </p:spPr>
      </p:sp>
      <p:sp>
        <p:nvSpPr>
          <p:cNvPr id="43" name="Shape 41"/>
          <p:cNvSpPr/>
          <p:nvPr/>
        </p:nvSpPr>
        <p:spPr>
          <a:xfrm>
            <a:off x="6223749" y="2856586"/>
            <a:ext cx="96584" cy="580644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44" name="Text 42"/>
          <p:cNvSpPr/>
          <p:nvPr/>
        </p:nvSpPr>
        <p:spPr>
          <a:xfrm>
            <a:off x="5145329" y="2524658"/>
            <a:ext cx="959206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4800" dirty="0"/>
          </a:p>
        </p:txBody>
      </p:sp>
      <p:sp>
        <p:nvSpPr>
          <p:cNvPr id="45" name="Shape 43"/>
          <p:cNvSpPr/>
          <p:nvPr/>
        </p:nvSpPr>
        <p:spPr>
          <a:xfrm>
            <a:off x="3727094" y="3857854"/>
            <a:ext cx="2573122" cy="4572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6" name="Text 44"/>
          <p:cNvSpPr/>
          <p:nvPr/>
        </p:nvSpPr>
        <p:spPr>
          <a:xfrm>
            <a:off x="4002329" y="3948379"/>
            <a:ext cx="219456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VERIFIED LIVE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891479" y="4094683"/>
            <a:ext cx="96584" cy="580644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48" name="Shape 46"/>
          <p:cNvSpPr/>
          <p:nvPr/>
        </p:nvSpPr>
        <p:spPr>
          <a:xfrm>
            <a:off x="5977090" y="4094683"/>
            <a:ext cx="96584" cy="580644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49" name="Shape 47"/>
          <p:cNvSpPr/>
          <p:nvPr/>
        </p:nvSpPr>
        <p:spPr>
          <a:xfrm>
            <a:off x="6062701" y="4094683"/>
            <a:ext cx="96584" cy="580644"/>
          </a:xfrm>
          <a:prstGeom prst="rect">
            <a:avLst/>
          </a:prstGeom>
          <a:solidFill>
            <a:srgbClr val="40E78F"/>
          </a:solidFill>
          <a:ln/>
        </p:spPr>
      </p:sp>
      <p:sp>
        <p:nvSpPr>
          <p:cNvPr id="50" name="Shape 48"/>
          <p:cNvSpPr/>
          <p:nvPr/>
        </p:nvSpPr>
        <p:spPr>
          <a:xfrm>
            <a:off x="6148311" y="4094683"/>
            <a:ext cx="96584" cy="580644"/>
          </a:xfrm>
          <a:prstGeom prst="rect">
            <a:avLst/>
          </a:prstGeom>
          <a:solidFill>
            <a:srgbClr val="3CE39B"/>
          </a:solidFill>
          <a:ln/>
        </p:spPr>
      </p:sp>
      <p:sp>
        <p:nvSpPr>
          <p:cNvPr id="51" name="Shape 49"/>
          <p:cNvSpPr/>
          <p:nvPr/>
        </p:nvSpPr>
        <p:spPr>
          <a:xfrm>
            <a:off x="6233922" y="4094683"/>
            <a:ext cx="96584" cy="580644"/>
          </a:xfrm>
          <a:prstGeom prst="rect">
            <a:avLst/>
          </a:prstGeom>
          <a:solidFill>
            <a:srgbClr val="37DFA8"/>
          </a:solidFill>
          <a:ln/>
        </p:spPr>
      </p:sp>
      <p:sp>
        <p:nvSpPr>
          <p:cNvPr id="52" name="Shape 50"/>
          <p:cNvSpPr/>
          <p:nvPr/>
        </p:nvSpPr>
        <p:spPr>
          <a:xfrm>
            <a:off x="6319533" y="4094683"/>
            <a:ext cx="96584" cy="580644"/>
          </a:xfrm>
          <a:prstGeom prst="rect">
            <a:avLst/>
          </a:prstGeom>
          <a:solidFill>
            <a:srgbClr val="32DBB5"/>
          </a:solidFill>
          <a:ln/>
        </p:spPr>
      </p:sp>
      <p:sp>
        <p:nvSpPr>
          <p:cNvPr id="53" name="Shape 51"/>
          <p:cNvSpPr/>
          <p:nvPr/>
        </p:nvSpPr>
        <p:spPr>
          <a:xfrm>
            <a:off x="6405143" y="4094683"/>
            <a:ext cx="96584" cy="580644"/>
          </a:xfrm>
          <a:prstGeom prst="rect">
            <a:avLst/>
          </a:prstGeom>
          <a:solidFill>
            <a:srgbClr val="2ED7C1"/>
          </a:solidFill>
          <a:ln/>
        </p:spPr>
      </p:sp>
      <p:sp>
        <p:nvSpPr>
          <p:cNvPr id="54" name="Shape 52"/>
          <p:cNvSpPr/>
          <p:nvPr/>
        </p:nvSpPr>
        <p:spPr>
          <a:xfrm>
            <a:off x="6490754" y="4094683"/>
            <a:ext cx="96584" cy="580644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55" name="Text 53"/>
          <p:cNvSpPr/>
          <p:nvPr/>
        </p:nvSpPr>
        <p:spPr>
          <a:xfrm>
            <a:off x="6024982" y="4170578"/>
            <a:ext cx="959206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4800" dirty="0"/>
          </a:p>
        </p:txBody>
      </p:sp>
      <p:sp>
        <p:nvSpPr>
          <p:cNvPr id="56" name="Text 54"/>
          <p:cNvSpPr/>
          <p:nvPr/>
        </p:nvSpPr>
        <p:spPr>
          <a:xfrm>
            <a:off x="4002329" y="5056632"/>
            <a:ext cx="237744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LIVE READ PATH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002329" y="5333695"/>
            <a:ext cx="6361481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./verify.sh 9/9 PASS · SELECT 1 · SELECT * FROM NY_TAXI.taxi_zones LIMIT 5 · SELECT r_reason_sk, r_reason_desc FROM TPCDS_DB.reason ORDER BY r_reason_sk LIMIT 5. Evidence: sponsors/zetaris/LIVE.md + query_home_ops.md §3 (2026-10-26 Beijing).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556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Text 2"/>
          <p:cNvSpPr/>
          <p:nvPr/>
        </p:nvSpPr>
        <p:spPr>
          <a:xfrm>
            <a:off x="530352" y="207569"/>
            <a:ext cx="160020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wangwu.ai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74122" y="207569"/>
            <a:ext cx="138623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Page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	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73045" y="773582"/>
            <a:ext cx="5918911" cy="707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Meterless H-MEM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 flipH="1" rot="10800000">
            <a:off x="4103827" y="2154326"/>
            <a:ext cx="1878178" cy="1878178"/>
          </a:xfrm>
          <a:prstGeom prst="teardrop">
            <a:avLst/>
          </a:prstGeom>
          <a:solidFill>
            <a:srgbClr val="CDB320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6176772" y="2154326"/>
            <a:ext cx="1878178" cy="1878178"/>
          </a:xfrm>
          <a:prstGeom prst="teardrop">
            <a:avLst/>
          </a:prstGeom>
          <a:solidFill>
            <a:srgbClr val="29D3CE"/>
          </a:solidFill>
          <a:ln/>
        </p:spPr>
      </p:sp>
      <p:sp>
        <p:nvSpPr>
          <p:cNvPr id="9" name="Shape 7"/>
          <p:cNvSpPr/>
          <p:nvPr/>
        </p:nvSpPr>
        <p:spPr>
          <a:xfrm>
            <a:off x="4103827" y="4228186"/>
            <a:ext cx="1878178" cy="1878178"/>
          </a:xfrm>
          <a:prstGeom prst="teardrop">
            <a:avLst/>
          </a:prstGeom>
          <a:solidFill>
            <a:srgbClr val="43E987"/>
          </a:solidFill>
          <a:ln/>
        </p:spPr>
      </p:sp>
      <p:sp>
        <p:nvSpPr>
          <p:cNvPr id="10" name="Shape 8"/>
          <p:cNvSpPr/>
          <p:nvPr/>
        </p:nvSpPr>
        <p:spPr>
          <a:xfrm flipH="1">
            <a:off x="6176772" y="4228186"/>
            <a:ext cx="1878178" cy="1878178"/>
          </a:xfrm>
          <a:prstGeom prst="teardrop">
            <a:avLst/>
          </a:prstGeom>
          <a:solidFill>
            <a:srgbClr val="0D0D0D"/>
          </a:solidFill>
          <a:ln/>
        </p:spPr>
      </p:sp>
      <p:sp>
        <p:nvSpPr>
          <p:cNvPr id="11" name="Text 9"/>
          <p:cNvSpPr/>
          <p:nvPr/>
        </p:nvSpPr>
        <p:spPr>
          <a:xfrm>
            <a:off x="4872838" y="2884018"/>
            <a:ext cx="959206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8D8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76695" y="2884018"/>
            <a:ext cx="959206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8D8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872838" y="4540910"/>
            <a:ext cx="959206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8D8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476695" y="4540910"/>
            <a:ext cx="959206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8D8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1125626" y="2276856"/>
            <a:ext cx="66385" cy="277063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1039" y="2276856"/>
            <a:ext cx="66385" cy="277063"/>
          </a:xfrm>
          <a:prstGeom prst="rect">
            <a:avLst/>
          </a:prstGeom>
          <a:solidFill>
            <a:srgbClr val="41E88B"/>
          </a:solidFill>
          <a:ln/>
        </p:spPr>
      </p:sp>
      <p:sp>
        <p:nvSpPr>
          <p:cNvPr id="17" name="Shape 15"/>
          <p:cNvSpPr/>
          <p:nvPr/>
        </p:nvSpPr>
        <p:spPr>
          <a:xfrm>
            <a:off x="1236452" y="2276856"/>
            <a:ext cx="66385" cy="277063"/>
          </a:xfrm>
          <a:prstGeom prst="rect">
            <a:avLst/>
          </a:prstGeom>
          <a:solidFill>
            <a:srgbClr val="39E1A2"/>
          </a:solidFill>
          <a:ln/>
        </p:spPr>
      </p:sp>
      <p:sp>
        <p:nvSpPr>
          <p:cNvPr id="18" name="Shape 16"/>
          <p:cNvSpPr/>
          <p:nvPr/>
        </p:nvSpPr>
        <p:spPr>
          <a:xfrm>
            <a:off x="1291864" y="2276856"/>
            <a:ext cx="66385" cy="277063"/>
          </a:xfrm>
          <a:prstGeom prst="rect">
            <a:avLst/>
          </a:prstGeom>
          <a:solidFill>
            <a:srgbClr val="31DAB8"/>
          </a:solidFill>
          <a:ln/>
        </p:spPr>
      </p:sp>
      <p:sp>
        <p:nvSpPr>
          <p:cNvPr id="19" name="Shape 17"/>
          <p:cNvSpPr/>
          <p:nvPr/>
        </p:nvSpPr>
        <p:spPr>
          <a:xfrm>
            <a:off x="1347277" y="2276856"/>
            <a:ext cx="66385" cy="277063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20" name="Text 18"/>
          <p:cNvSpPr/>
          <p:nvPr/>
        </p:nvSpPr>
        <p:spPr>
          <a:xfrm>
            <a:off x="1022299" y="2591410"/>
            <a:ext cx="210312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2299" y="2884018"/>
            <a:ext cx="2696566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 → Mining / Store. Seed unfinished work, failed paths, live decisions.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31682" y="2276856"/>
            <a:ext cx="66385" cy="277063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23" name="Shape 21"/>
          <p:cNvSpPr/>
          <p:nvPr/>
        </p:nvSpPr>
        <p:spPr>
          <a:xfrm>
            <a:off x="8487095" y="2276856"/>
            <a:ext cx="66385" cy="277063"/>
          </a:xfrm>
          <a:prstGeom prst="rect">
            <a:avLst/>
          </a:prstGeom>
          <a:solidFill>
            <a:srgbClr val="41E88B"/>
          </a:solidFill>
          <a:ln/>
        </p:spPr>
      </p:sp>
      <p:sp>
        <p:nvSpPr>
          <p:cNvPr id="24" name="Shape 22"/>
          <p:cNvSpPr/>
          <p:nvPr/>
        </p:nvSpPr>
        <p:spPr>
          <a:xfrm>
            <a:off x="8542508" y="2276856"/>
            <a:ext cx="66385" cy="277063"/>
          </a:xfrm>
          <a:prstGeom prst="rect">
            <a:avLst/>
          </a:prstGeom>
          <a:solidFill>
            <a:srgbClr val="39E1A2"/>
          </a:solidFill>
          <a:ln/>
        </p:spPr>
      </p:sp>
      <p:sp>
        <p:nvSpPr>
          <p:cNvPr id="25" name="Shape 23"/>
          <p:cNvSpPr/>
          <p:nvPr/>
        </p:nvSpPr>
        <p:spPr>
          <a:xfrm>
            <a:off x="8597920" y="2276856"/>
            <a:ext cx="66385" cy="277063"/>
          </a:xfrm>
          <a:prstGeom prst="rect">
            <a:avLst/>
          </a:prstGeom>
          <a:solidFill>
            <a:srgbClr val="31DAB8"/>
          </a:solidFill>
          <a:ln/>
        </p:spPr>
      </p:sp>
      <p:sp>
        <p:nvSpPr>
          <p:cNvPr id="26" name="Shape 24"/>
          <p:cNvSpPr/>
          <p:nvPr/>
        </p:nvSpPr>
        <p:spPr>
          <a:xfrm>
            <a:off x="8653333" y="2276856"/>
            <a:ext cx="66385" cy="277063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27" name="Text 25"/>
          <p:cNvSpPr/>
          <p:nvPr/>
        </p:nvSpPr>
        <p:spPr>
          <a:xfrm>
            <a:off x="8354873" y="2591410"/>
            <a:ext cx="210312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ASK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54873" y="2884018"/>
            <a:ext cx="2696566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 → Retrieval + provenance. Engine source: vendor/hmem after setup.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25626" y="4226357"/>
            <a:ext cx="66385" cy="277063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30" name="Shape 28"/>
          <p:cNvSpPr/>
          <p:nvPr/>
        </p:nvSpPr>
        <p:spPr>
          <a:xfrm>
            <a:off x="1181039" y="4226357"/>
            <a:ext cx="66385" cy="277063"/>
          </a:xfrm>
          <a:prstGeom prst="rect">
            <a:avLst/>
          </a:prstGeom>
          <a:solidFill>
            <a:srgbClr val="41E88B"/>
          </a:solidFill>
          <a:ln/>
        </p:spPr>
      </p:sp>
      <p:sp>
        <p:nvSpPr>
          <p:cNvPr id="31" name="Shape 29"/>
          <p:cNvSpPr/>
          <p:nvPr/>
        </p:nvSpPr>
        <p:spPr>
          <a:xfrm>
            <a:off x="1236452" y="4226357"/>
            <a:ext cx="66385" cy="277063"/>
          </a:xfrm>
          <a:prstGeom prst="rect">
            <a:avLst/>
          </a:prstGeom>
          <a:solidFill>
            <a:srgbClr val="39E1A2"/>
          </a:solidFill>
          <a:ln/>
        </p:spPr>
      </p:sp>
      <p:sp>
        <p:nvSpPr>
          <p:cNvPr id="32" name="Shape 30"/>
          <p:cNvSpPr/>
          <p:nvPr/>
        </p:nvSpPr>
        <p:spPr>
          <a:xfrm>
            <a:off x="1291864" y="4226357"/>
            <a:ext cx="66385" cy="277063"/>
          </a:xfrm>
          <a:prstGeom prst="rect">
            <a:avLst/>
          </a:prstGeom>
          <a:solidFill>
            <a:srgbClr val="31DAB8"/>
          </a:solidFill>
          <a:ln/>
        </p:spPr>
      </p:sp>
      <p:sp>
        <p:nvSpPr>
          <p:cNvPr id="33" name="Shape 31"/>
          <p:cNvSpPr/>
          <p:nvPr/>
        </p:nvSpPr>
        <p:spPr>
          <a:xfrm>
            <a:off x="1347277" y="4226357"/>
            <a:ext cx="66385" cy="277063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34" name="Text 32"/>
          <p:cNvSpPr/>
          <p:nvPr/>
        </p:nvSpPr>
        <p:spPr>
          <a:xfrm>
            <a:off x="1022299" y="4540910"/>
            <a:ext cx="210312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AUDIT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2299" y="4833518"/>
            <a:ext cx="2696566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 → TrustLedger. Inspect a memory id for the trust trail.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31682" y="4226357"/>
            <a:ext cx="66385" cy="277063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37" name="Shape 35"/>
          <p:cNvSpPr/>
          <p:nvPr/>
        </p:nvSpPr>
        <p:spPr>
          <a:xfrm>
            <a:off x="8487095" y="4226357"/>
            <a:ext cx="66385" cy="277063"/>
          </a:xfrm>
          <a:prstGeom prst="rect">
            <a:avLst/>
          </a:prstGeom>
          <a:solidFill>
            <a:srgbClr val="41E88B"/>
          </a:solidFill>
          <a:ln/>
        </p:spPr>
      </p:sp>
      <p:sp>
        <p:nvSpPr>
          <p:cNvPr id="38" name="Shape 36"/>
          <p:cNvSpPr/>
          <p:nvPr/>
        </p:nvSpPr>
        <p:spPr>
          <a:xfrm>
            <a:off x="8542508" y="4226357"/>
            <a:ext cx="66385" cy="277063"/>
          </a:xfrm>
          <a:prstGeom prst="rect">
            <a:avLst/>
          </a:prstGeom>
          <a:solidFill>
            <a:srgbClr val="39E1A2"/>
          </a:solidFill>
          <a:ln/>
        </p:spPr>
      </p:sp>
      <p:sp>
        <p:nvSpPr>
          <p:cNvPr id="39" name="Shape 37"/>
          <p:cNvSpPr/>
          <p:nvPr/>
        </p:nvSpPr>
        <p:spPr>
          <a:xfrm>
            <a:off x="8597920" y="4226357"/>
            <a:ext cx="66385" cy="277063"/>
          </a:xfrm>
          <a:prstGeom prst="rect">
            <a:avLst/>
          </a:prstGeom>
          <a:solidFill>
            <a:srgbClr val="31DAB8"/>
          </a:solidFill>
          <a:ln/>
        </p:spPr>
      </p:sp>
      <p:sp>
        <p:nvSpPr>
          <p:cNvPr id="40" name="Shape 38"/>
          <p:cNvSpPr/>
          <p:nvPr/>
        </p:nvSpPr>
        <p:spPr>
          <a:xfrm>
            <a:off x="8653333" y="4226357"/>
            <a:ext cx="66385" cy="277063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41" name="Text 39"/>
          <p:cNvSpPr/>
          <p:nvPr/>
        </p:nvSpPr>
        <p:spPr>
          <a:xfrm>
            <a:off x="8354873" y="4540910"/>
            <a:ext cx="210312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SLEEP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54873" y="4833518"/>
            <a:ext cx="2696566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 → Sleep consolidation. Path: sponsors/hmem-notebook on open-agent-2026.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556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Text 2"/>
          <p:cNvSpPr/>
          <p:nvPr/>
        </p:nvSpPr>
        <p:spPr>
          <a:xfrm>
            <a:off x="530352" y="207569"/>
            <a:ext cx="160020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wangwu.ai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74122" y="207569"/>
            <a:ext cx="138623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Page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	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73045" y="773582"/>
            <a:ext cx="5918911" cy="707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3E98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556102" y="3154680"/>
            <a:ext cx="1463040" cy="960120"/>
          </a:xfrm>
          <a:prstGeom prst="ellipse">
            <a:avLst/>
          </a:prstGeom>
          <a:ln w="38100">
            <a:solidFill>
              <a:srgbClr val="43E98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84902" y="3154680"/>
            <a:ext cx="1463040" cy="960120"/>
          </a:xfrm>
          <a:prstGeom prst="ellipse">
            <a:avLst/>
          </a:prstGeom>
          <a:ln w="38100">
            <a:solidFill>
              <a:srgbClr val="43E9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41902" y="3529584"/>
            <a:ext cx="603504" cy="603504"/>
          </a:xfrm>
          <a:prstGeom prst="ellipse">
            <a:avLst/>
          </a:prstGeom>
          <a:ln w="38100">
            <a:solidFill>
              <a:srgbClr val="43E9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3634" y="3136392"/>
            <a:ext cx="164592" cy="54864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11" name="Shape 9"/>
          <p:cNvSpPr/>
          <p:nvPr/>
        </p:nvSpPr>
        <p:spPr>
          <a:xfrm>
            <a:off x="3899002" y="2286000"/>
            <a:ext cx="1133856" cy="1133856"/>
          </a:xfrm>
          <a:prstGeom prst="ellipse">
            <a:avLst/>
          </a:prstGeom>
          <a:solidFill>
            <a:srgbClr val="202020"/>
          </a:solidFill>
          <a:ln w="38100">
            <a:solidFill>
              <a:srgbClr val="43E9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9002" y="228600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8D8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6070702" y="3529584"/>
            <a:ext cx="603504" cy="603504"/>
          </a:xfrm>
          <a:prstGeom prst="ellipse">
            <a:avLst/>
          </a:prstGeom>
          <a:ln w="38100">
            <a:solidFill>
              <a:srgbClr val="29D3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2434" y="3136392"/>
            <a:ext cx="164592" cy="548640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15" name="Shape 13"/>
          <p:cNvSpPr/>
          <p:nvPr/>
        </p:nvSpPr>
        <p:spPr>
          <a:xfrm>
            <a:off x="5727802" y="2286000"/>
            <a:ext cx="1133856" cy="1133856"/>
          </a:xfrm>
          <a:prstGeom prst="ellipse">
            <a:avLst/>
          </a:prstGeom>
          <a:solidFill>
            <a:srgbClr val="202020"/>
          </a:solidFill>
          <a:ln w="38100">
            <a:solidFill>
              <a:srgbClr val="29D3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27802" y="228600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8D8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5156302" y="3200400"/>
            <a:ext cx="603504" cy="603504"/>
          </a:xfrm>
          <a:prstGeom prst="ellipse">
            <a:avLst/>
          </a:prstGeom>
          <a:ln w="38100">
            <a:solidFill>
              <a:srgbClr val="CDB3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98034" y="4614977"/>
            <a:ext cx="164592" cy="548640"/>
          </a:xfrm>
          <a:prstGeom prst="rect">
            <a:avLst/>
          </a:prstGeom>
          <a:solidFill>
            <a:srgbClr val="CDB320"/>
          </a:solidFill>
          <a:ln/>
        </p:spPr>
      </p:sp>
      <p:sp>
        <p:nvSpPr>
          <p:cNvPr id="19" name="Shape 17"/>
          <p:cNvSpPr/>
          <p:nvPr/>
        </p:nvSpPr>
        <p:spPr>
          <a:xfrm>
            <a:off x="4813402" y="3764585"/>
            <a:ext cx="1133856" cy="1133856"/>
          </a:xfrm>
          <a:prstGeom prst="ellipse">
            <a:avLst/>
          </a:prstGeom>
          <a:solidFill>
            <a:srgbClr val="202020"/>
          </a:solidFill>
          <a:ln w="38100">
            <a:solidFill>
              <a:srgbClr val="CDB3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3402" y="3764585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8D8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6985102" y="3200400"/>
            <a:ext cx="603504" cy="603504"/>
          </a:xfrm>
          <a:prstGeom prst="ellipse">
            <a:avLst/>
          </a:prstGeom>
          <a:ln w="381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26834" y="4614977"/>
            <a:ext cx="164592" cy="5486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Shape 21"/>
          <p:cNvSpPr/>
          <p:nvPr/>
        </p:nvSpPr>
        <p:spPr>
          <a:xfrm>
            <a:off x="6642202" y="3764585"/>
            <a:ext cx="1133856" cy="1133856"/>
          </a:xfrm>
          <a:prstGeom prst="ellipse">
            <a:avLst/>
          </a:prstGeom>
          <a:solidFill>
            <a:srgbClr val="202020"/>
          </a:solidFill>
          <a:ln w="38100">
            <a:solidFill>
              <a:srgbClr val="F2F2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2202" y="3764585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8D8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4800" dirty="0"/>
          </a:p>
        </p:txBody>
      </p:sp>
      <p:sp>
        <p:nvSpPr>
          <p:cNvPr id="25" name="Shape 23"/>
          <p:cNvSpPr/>
          <p:nvPr/>
        </p:nvSpPr>
        <p:spPr>
          <a:xfrm>
            <a:off x="1406654" y="2542032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26" name="Shape 24"/>
          <p:cNvSpPr/>
          <p:nvPr/>
        </p:nvSpPr>
        <p:spPr>
          <a:xfrm>
            <a:off x="1495062" y="2542032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27" name="Shape 25"/>
          <p:cNvSpPr/>
          <p:nvPr/>
        </p:nvSpPr>
        <p:spPr>
          <a:xfrm>
            <a:off x="1583471" y="2542032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28" name="Shape 26"/>
          <p:cNvSpPr/>
          <p:nvPr/>
        </p:nvSpPr>
        <p:spPr>
          <a:xfrm>
            <a:off x="1671880" y="2542032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29" name="Shape 27"/>
          <p:cNvSpPr/>
          <p:nvPr/>
        </p:nvSpPr>
        <p:spPr>
          <a:xfrm>
            <a:off x="1760289" y="2542032"/>
            <a:ext cx="99382" cy="457200"/>
          </a:xfrm>
          <a:prstGeom prst="rect">
            <a:avLst/>
          </a:prstGeom>
          <a:solidFill>
            <a:srgbClr val="42E88A"/>
          </a:solidFill>
          <a:ln/>
        </p:spPr>
      </p:sp>
      <p:sp>
        <p:nvSpPr>
          <p:cNvPr id="30" name="Shape 28"/>
          <p:cNvSpPr/>
          <p:nvPr/>
        </p:nvSpPr>
        <p:spPr>
          <a:xfrm>
            <a:off x="1848697" y="2542032"/>
            <a:ext cx="99382" cy="457200"/>
          </a:xfrm>
          <a:prstGeom prst="rect">
            <a:avLst/>
          </a:prstGeom>
          <a:solidFill>
            <a:srgbClr val="40E68F"/>
          </a:solidFill>
          <a:ln/>
        </p:spPr>
      </p:sp>
      <p:sp>
        <p:nvSpPr>
          <p:cNvPr id="31" name="Shape 29"/>
          <p:cNvSpPr/>
          <p:nvPr/>
        </p:nvSpPr>
        <p:spPr>
          <a:xfrm>
            <a:off x="1937106" y="2542032"/>
            <a:ext cx="99382" cy="457200"/>
          </a:xfrm>
          <a:prstGeom prst="rect">
            <a:avLst/>
          </a:prstGeom>
          <a:solidFill>
            <a:srgbClr val="3EE595"/>
          </a:solidFill>
          <a:ln/>
        </p:spPr>
      </p:sp>
      <p:sp>
        <p:nvSpPr>
          <p:cNvPr id="32" name="Shape 30"/>
          <p:cNvSpPr/>
          <p:nvPr/>
        </p:nvSpPr>
        <p:spPr>
          <a:xfrm>
            <a:off x="2025515" y="2542032"/>
            <a:ext cx="99382" cy="457200"/>
          </a:xfrm>
          <a:prstGeom prst="rect">
            <a:avLst/>
          </a:prstGeom>
          <a:solidFill>
            <a:srgbClr val="3CE39A"/>
          </a:solidFill>
          <a:ln/>
        </p:spPr>
      </p:sp>
      <p:sp>
        <p:nvSpPr>
          <p:cNvPr id="33" name="Shape 31"/>
          <p:cNvSpPr/>
          <p:nvPr/>
        </p:nvSpPr>
        <p:spPr>
          <a:xfrm>
            <a:off x="2113924" y="2542032"/>
            <a:ext cx="99382" cy="457200"/>
          </a:xfrm>
          <a:prstGeom prst="rect">
            <a:avLst/>
          </a:prstGeom>
          <a:solidFill>
            <a:srgbClr val="3AE29F"/>
          </a:solidFill>
          <a:ln/>
        </p:spPr>
      </p:sp>
      <p:sp>
        <p:nvSpPr>
          <p:cNvPr id="34" name="Shape 32"/>
          <p:cNvSpPr/>
          <p:nvPr/>
        </p:nvSpPr>
        <p:spPr>
          <a:xfrm>
            <a:off x="2202332" y="2542032"/>
            <a:ext cx="99382" cy="457200"/>
          </a:xfrm>
          <a:prstGeom prst="rect">
            <a:avLst/>
          </a:prstGeom>
          <a:solidFill>
            <a:srgbClr val="38E0A4"/>
          </a:solidFill>
          <a:ln/>
        </p:spPr>
      </p:sp>
      <p:sp>
        <p:nvSpPr>
          <p:cNvPr id="35" name="Shape 33"/>
          <p:cNvSpPr/>
          <p:nvPr/>
        </p:nvSpPr>
        <p:spPr>
          <a:xfrm>
            <a:off x="2290741" y="2542032"/>
            <a:ext cx="99382" cy="457200"/>
          </a:xfrm>
          <a:prstGeom prst="rect">
            <a:avLst/>
          </a:prstGeom>
          <a:solidFill>
            <a:srgbClr val="36DEA9"/>
          </a:solidFill>
          <a:ln/>
        </p:spPr>
      </p:sp>
      <p:sp>
        <p:nvSpPr>
          <p:cNvPr id="36" name="Shape 34"/>
          <p:cNvSpPr/>
          <p:nvPr/>
        </p:nvSpPr>
        <p:spPr>
          <a:xfrm>
            <a:off x="2379150" y="2542032"/>
            <a:ext cx="99382" cy="457200"/>
          </a:xfrm>
          <a:prstGeom prst="rect">
            <a:avLst/>
          </a:prstGeom>
          <a:solidFill>
            <a:srgbClr val="34DDAF"/>
          </a:solidFill>
          <a:ln/>
        </p:spPr>
      </p:sp>
      <p:sp>
        <p:nvSpPr>
          <p:cNvPr id="37" name="Shape 35"/>
          <p:cNvSpPr/>
          <p:nvPr/>
        </p:nvSpPr>
        <p:spPr>
          <a:xfrm>
            <a:off x="2467559" y="2542032"/>
            <a:ext cx="99382" cy="457200"/>
          </a:xfrm>
          <a:prstGeom prst="rect">
            <a:avLst/>
          </a:prstGeom>
          <a:solidFill>
            <a:srgbClr val="33DBB4"/>
          </a:solidFill>
          <a:ln/>
        </p:spPr>
      </p:sp>
      <p:sp>
        <p:nvSpPr>
          <p:cNvPr id="38" name="Shape 36"/>
          <p:cNvSpPr/>
          <p:nvPr/>
        </p:nvSpPr>
        <p:spPr>
          <a:xfrm>
            <a:off x="2555967" y="2542032"/>
            <a:ext cx="99382" cy="457200"/>
          </a:xfrm>
          <a:prstGeom prst="rect">
            <a:avLst/>
          </a:prstGeom>
          <a:solidFill>
            <a:srgbClr val="31D9B9"/>
          </a:solidFill>
          <a:ln/>
        </p:spPr>
      </p:sp>
      <p:sp>
        <p:nvSpPr>
          <p:cNvPr id="39" name="Shape 37"/>
          <p:cNvSpPr/>
          <p:nvPr/>
        </p:nvSpPr>
        <p:spPr>
          <a:xfrm>
            <a:off x="2644376" y="2542032"/>
            <a:ext cx="99382" cy="457200"/>
          </a:xfrm>
          <a:prstGeom prst="rect">
            <a:avLst/>
          </a:prstGeom>
          <a:solidFill>
            <a:srgbClr val="2FD8BE"/>
          </a:solidFill>
          <a:ln/>
        </p:spPr>
      </p:sp>
      <p:sp>
        <p:nvSpPr>
          <p:cNvPr id="40" name="Shape 38"/>
          <p:cNvSpPr/>
          <p:nvPr/>
        </p:nvSpPr>
        <p:spPr>
          <a:xfrm>
            <a:off x="2732785" y="2542032"/>
            <a:ext cx="99382" cy="457200"/>
          </a:xfrm>
          <a:prstGeom prst="rect">
            <a:avLst/>
          </a:prstGeom>
          <a:solidFill>
            <a:srgbClr val="2DD6C4"/>
          </a:solidFill>
          <a:ln/>
        </p:spPr>
      </p:sp>
      <p:sp>
        <p:nvSpPr>
          <p:cNvPr id="41" name="Shape 39"/>
          <p:cNvSpPr/>
          <p:nvPr/>
        </p:nvSpPr>
        <p:spPr>
          <a:xfrm>
            <a:off x="2821194" y="2542032"/>
            <a:ext cx="99382" cy="457200"/>
          </a:xfrm>
          <a:prstGeom prst="rect">
            <a:avLst/>
          </a:prstGeom>
          <a:solidFill>
            <a:srgbClr val="2BD5C9"/>
          </a:solidFill>
          <a:ln/>
        </p:spPr>
      </p:sp>
      <p:sp>
        <p:nvSpPr>
          <p:cNvPr id="42" name="Shape 40"/>
          <p:cNvSpPr/>
          <p:nvPr/>
        </p:nvSpPr>
        <p:spPr>
          <a:xfrm>
            <a:off x="2909603" y="2542032"/>
            <a:ext cx="99382" cy="457200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43" name="Shape 41"/>
          <p:cNvSpPr/>
          <p:nvPr/>
        </p:nvSpPr>
        <p:spPr>
          <a:xfrm>
            <a:off x="1330452" y="2694430"/>
            <a:ext cx="152403" cy="152403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44" name="Shape 42"/>
          <p:cNvSpPr/>
          <p:nvPr/>
        </p:nvSpPr>
        <p:spPr>
          <a:xfrm>
            <a:off x="2921810" y="2694430"/>
            <a:ext cx="152403" cy="152403"/>
          </a:xfrm>
          <a:prstGeom prst="ellipse">
            <a:avLst/>
          </a:prstGeom>
          <a:solidFill>
            <a:srgbClr val="29D3CE"/>
          </a:solidFill>
          <a:ln/>
        </p:spPr>
      </p:sp>
      <p:sp>
        <p:nvSpPr>
          <p:cNvPr id="45" name="Text 43"/>
          <p:cNvSpPr/>
          <p:nvPr/>
        </p:nvSpPr>
        <p:spPr>
          <a:xfrm>
            <a:off x="1330452" y="2542032"/>
            <a:ext cx="174376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ENTRY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72338" y="3040380"/>
            <a:ext cx="2696566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HubCards human entry (Telegram urgent fallback). Collaboration naming sits above.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59751" y="2542032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48" name="Shape 46"/>
          <p:cNvSpPr/>
          <p:nvPr/>
        </p:nvSpPr>
        <p:spPr>
          <a:xfrm>
            <a:off x="8448160" y="2542032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49" name="Shape 47"/>
          <p:cNvSpPr/>
          <p:nvPr/>
        </p:nvSpPr>
        <p:spPr>
          <a:xfrm>
            <a:off x="8536569" y="2542032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50" name="Shape 48"/>
          <p:cNvSpPr/>
          <p:nvPr/>
        </p:nvSpPr>
        <p:spPr>
          <a:xfrm>
            <a:off x="8624977" y="2542032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51" name="Shape 49"/>
          <p:cNvSpPr/>
          <p:nvPr/>
        </p:nvSpPr>
        <p:spPr>
          <a:xfrm>
            <a:off x="8713386" y="2542032"/>
            <a:ext cx="99382" cy="457200"/>
          </a:xfrm>
          <a:prstGeom prst="rect">
            <a:avLst/>
          </a:prstGeom>
          <a:solidFill>
            <a:srgbClr val="42E88A"/>
          </a:solidFill>
          <a:ln/>
        </p:spPr>
      </p:sp>
      <p:sp>
        <p:nvSpPr>
          <p:cNvPr id="52" name="Shape 50"/>
          <p:cNvSpPr/>
          <p:nvPr/>
        </p:nvSpPr>
        <p:spPr>
          <a:xfrm>
            <a:off x="8801795" y="2542032"/>
            <a:ext cx="99382" cy="457200"/>
          </a:xfrm>
          <a:prstGeom prst="rect">
            <a:avLst/>
          </a:prstGeom>
          <a:solidFill>
            <a:srgbClr val="40E68F"/>
          </a:solidFill>
          <a:ln/>
        </p:spPr>
      </p:sp>
      <p:sp>
        <p:nvSpPr>
          <p:cNvPr id="53" name="Shape 51"/>
          <p:cNvSpPr/>
          <p:nvPr/>
        </p:nvSpPr>
        <p:spPr>
          <a:xfrm>
            <a:off x="8890204" y="2542032"/>
            <a:ext cx="99382" cy="457200"/>
          </a:xfrm>
          <a:prstGeom prst="rect">
            <a:avLst/>
          </a:prstGeom>
          <a:solidFill>
            <a:srgbClr val="3EE595"/>
          </a:solidFill>
          <a:ln/>
        </p:spPr>
      </p:sp>
      <p:sp>
        <p:nvSpPr>
          <p:cNvPr id="54" name="Shape 52"/>
          <p:cNvSpPr/>
          <p:nvPr/>
        </p:nvSpPr>
        <p:spPr>
          <a:xfrm>
            <a:off x="8978612" y="2542032"/>
            <a:ext cx="99382" cy="457200"/>
          </a:xfrm>
          <a:prstGeom prst="rect">
            <a:avLst/>
          </a:prstGeom>
          <a:solidFill>
            <a:srgbClr val="3CE39A"/>
          </a:solidFill>
          <a:ln/>
        </p:spPr>
      </p:sp>
      <p:sp>
        <p:nvSpPr>
          <p:cNvPr id="55" name="Shape 53"/>
          <p:cNvSpPr/>
          <p:nvPr/>
        </p:nvSpPr>
        <p:spPr>
          <a:xfrm>
            <a:off x="9067021" y="2542032"/>
            <a:ext cx="99382" cy="457200"/>
          </a:xfrm>
          <a:prstGeom prst="rect">
            <a:avLst/>
          </a:prstGeom>
          <a:solidFill>
            <a:srgbClr val="3AE29F"/>
          </a:solidFill>
          <a:ln/>
        </p:spPr>
      </p:sp>
      <p:sp>
        <p:nvSpPr>
          <p:cNvPr id="56" name="Shape 54"/>
          <p:cNvSpPr/>
          <p:nvPr/>
        </p:nvSpPr>
        <p:spPr>
          <a:xfrm>
            <a:off x="9155430" y="2542032"/>
            <a:ext cx="99382" cy="457200"/>
          </a:xfrm>
          <a:prstGeom prst="rect">
            <a:avLst/>
          </a:prstGeom>
          <a:solidFill>
            <a:srgbClr val="38E0A4"/>
          </a:solidFill>
          <a:ln/>
        </p:spPr>
      </p:sp>
      <p:sp>
        <p:nvSpPr>
          <p:cNvPr id="57" name="Shape 55"/>
          <p:cNvSpPr/>
          <p:nvPr/>
        </p:nvSpPr>
        <p:spPr>
          <a:xfrm>
            <a:off x="9243839" y="2542032"/>
            <a:ext cx="99382" cy="457200"/>
          </a:xfrm>
          <a:prstGeom prst="rect">
            <a:avLst/>
          </a:prstGeom>
          <a:solidFill>
            <a:srgbClr val="36DEA9"/>
          </a:solidFill>
          <a:ln/>
        </p:spPr>
      </p:sp>
      <p:sp>
        <p:nvSpPr>
          <p:cNvPr id="58" name="Shape 56"/>
          <p:cNvSpPr/>
          <p:nvPr/>
        </p:nvSpPr>
        <p:spPr>
          <a:xfrm>
            <a:off x="9332248" y="2542032"/>
            <a:ext cx="99382" cy="457200"/>
          </a:xfrm>
          <a:prstGeom prst="rect">
            <a:avLst/>
          </a:prstGeom>
          <a:solidFill>
            <a:srgbClr val="34DDAF"/>
          </a:solidFill>
          <a:ln/>
        </p:spPr>
      </p:sp>
      <p:sp>
        <p:nvSpPr>
          <p:cNvPr id="59" name="Shape 57"/>
          <p:cNvSpPr/>
          <p:nvPr/>
        </p:nvSpPr>
        <p:spPr>
          <a:xfrm>
            <a:off x="9420656" y="2542032"/>
            <a:ext cx="99382" cy="457200"/>
          </a:xfrm>
          <a:prstGeom prst="rect">
            <a:avLst/>
          </a:prstGeom>
          <a:solidFill>
            <a:srgbClr val="33DBB4"/>
          </a:solidFill>
          <a:ln/>
        </p:spPr>
      </p:sp>
      <p:sp>
        <p:nvSpPr>
          <p:cNvPr id="60" name="Shape 58"/>
          <p:cNvSpPr/>
          <p:nvPr/>
        </p:nvSpPr>
        <p:spPr>
          <a:xfrm>
            <a:off x="9509065" y="2542032"/>
            <a:ext cx="99382" cy="457200"/>
          </a:xfrm>
          <a:prstGeom prst="rect">
            <a:avLst/>
          </a:prstGeom>
          <a:solidFill>
            <a:srgbClr val="31D9B9"/>
          </a:solidFill>
          <a:ln/>
        </p:spPr>
      </p:sp>
      <p:sp>
        <p:nvSpPr>
          <p:cNvPr id="61" name="Shape 59"/>
          <p:cNvSpPr/>
          <p:nvPr/>
        </p:nvSpPr>
        <p:spPr>
          <a:xfrm>
            <a:off x="9597474" y="2542032"/>
            <a:ext cx="99382" cy="457200"/>
          </a:xfrm>
          <a:prstGeom prst="rect">
            <a:avLst/>
          </a:prstGeom>
          <a:solidFill>
            <a:srgbClr val="2FD8BE"/>
          </a:solidFill>
          <a:ln/>
        </p:spPr>
      </p:sp>
      <p:sp>
        <p:nvSpPr>
          <p:cNvPr id="62" name="Shape 60"/>
          <p:cNvSpPr/>
          <p:nvPr/>
        </p:nvSpPr>
        <p:spPr>
          <a:xfrm>
            <a:off x="9685883" y="2542032"/>
            <a:ext cx="99382" cy="457200"/>
          </a:xfrm>
          <a:prstGeom prst="rect">
            <a:avLst/>
          </a:prstGeom>
          <a:solidFill>
            <a:srgbClr val="2DD6C4"/>
          </a:solidFill>
          <a:ln/>
        </p:spPr>
      </p:sp>
      <p:sp>
        <p:nvSpPr>
          <p:cNvPr id="63" name="Shape 61"/>
          <p:cNvSpPr/>
          <p:nvPr/>
        </p:nvSpPr>
        <p:spPr>
          <a:xfrm>
            <a:off x="9774291" y="2542032"/>
            <a:ext cx="99382" cy="457200"/>
          </a:xfrm>
          <a:prstGeom prst="rect">
            <a:avLst/>
          </a:prstGeom>
          <a:solidFill>
            <a:srgbClr val="2BD5C9"/>
          </a:solidFill>
          <a:ln/>
        </p:spPr>
      </p:sp>
      <p:sp>
        <p:nvSpPr>
          <p:cNvPr id="64" name="Shape 62"/>
          <p:cNvSpPr/>
          <p:nvPr/>
        </p:nvSpPr>
        <p:spPr>
          <a:xfrm>
            <a:off x="9862700" y="2542032"/>
            <a:ext cx="99382" cy="457200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65" name="Shape 63"/>
          <p:cNvSpPr/>
          <p:nvPr/>
        </p:nvSpPr>
        <p:spPr>
          <a:xfrm>
            <a:off x="8283550" y="2694430"/>
            <a:ext cx="152403" cy="152403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66" name="Shape 64"/>
          <p:cNvSpPr/>
          <p:nvPr/>
        </p:nvSpPr>
        <p:spPr>
          <a:xfrm>
            <a:off x="9874907" y="2694430"/>
            <a:ext cx="152403" cy="152403"/>
          </a:xfrm>
          <a:prstGeom prst="ellipse">
            <a:avLst/>
          </a:prstGeom>
          <a:solidFill>
            <a:srgbClr val="29D3CE"/>
          </a:solidFill>
          <a:ln/>
        </p:spPr>
      </p:sp>
      <p:sp>
        <p:nvSpPr>
          <p:cNvPr id="67" name="Text 65"/>
          <p:cNvSpPr/>
          <p:nvPr/>
        </p:nvSpPr>
        <p:spPr>
          <a:xfrm>
            <a:off x="8283550" y="25420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SESSION / SCHEDULER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850124" y="3040380"/>
            <a:ext cx="2696566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agent = entry + own task scheduler (queue vs new session).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206754" y="4556455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70" name="Shape 68"/>
          <p:cNvSpPr/>
          <p:nvPr/>
        </p:nvSpPr>
        <p:spPr>
          <a:xfrm>
            <a:off x="2295162" y="4556455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71" name="Shape 69"/>
          <p:cNvSpPr/>
          <p:nvPr/>
        </p:nvSpPr>
        <p:spPr>
          <a:xfrm>
            <a:off x="2383571" y="4556455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72" name="Shape 70"/>
          <p:cNvSpPr/>
          <p:nvPr/>
        </p:nvSpPr>
        <p:spPr>
          <a:xfrm>
            <a:off x="2471980" y="4556455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73" name="Shape 71"/>
          <p:cNvSpPr/>
          <p:nvPr/>
        </p:nvSpPr>
        <p:spPr>
          <a:xfrm>
            <a:off x="2560389" y="4556455"/>
            <a:ext cx="99382" cy="457200"/>
          </a:xfrm>
          <a:prstGeom prst="rect">
            <a:avLst/>
          </a:prstGeom>
          <a:solidFill>
            <a:srgbClr val="42E88A"/>
          </a:solidFill>
          <a:ln/>
        </p:spPr>
      </p:sp>
      <p:sp>
        <p:nvSpPr>
          <p:cNvPr id="74" name="Shape 72"/>
          <p:cNvSpPr/>
          <p:nvPr/>
        </p:nvSpPr>
        <p:spPr>
          <a:xfrm>
            <a:off x="2648797" y="4556455"/>
            <a:ext cx="99382" cy="457200"/>
          </a:xfrm>
          <a:prstGeom prst="rect">
            <a:avLst/>
          </a:prstGeom>
          <a:solidFill>
            <a:srgbClr val="40E68F"/>
          </a:solidFill>
          <a:ln/>
        </p:spPr>
      </p:sp>
      <p:sp>
        <p:nvSpPr>
          <p:cNvPr id="75" name="Shape 73"/>
          <p:cNvSpPr/>
          <p:nvPr/>
        </p:nvSpPr>
        <p:spPr>
          <a:xfrm>
            <a:off x="2737206" y="4556455"/>
            <a:ext cx="99382" cy="457200"/>
          </a:xfrm>
          <a:prstGeom prst="rect">
            <a:avLst/>
          </a:prstGeom>
          <a:solidFill>
            <a:srgbClr val="3EE595"/>
          </a:solidFill>
          <a:ln/>
        </p:spPr>
      </p:sp>
      <p:sp>
        <p:nvSpPr>
          <p:cNvPr id="76" name="Shape 74"/>
          <p:cNvSpPr/>
          <p:nvPr/>
        </p:nvSpPr>
        <p:spPr>
          <a:xfrm>
            <a:off x="2825615" y="4556455"/>
            <a:ext cx="99382" cy="457200"/>
          </a:xfrm>
          <a:prstGeom prst="rect">
            <a:avLst/>
          </a:prstGeom>
          <a:solidFill>
            <a:srgbClr val="3CE39A"/>
          </a:solidFill>
          <a:ln/>
        </p:spPr>
      </p:sp>
      <p:sp>
        <p:nvSpPr>
          <p:cNvPr id="77" name="Shape 75"/>
          <p:cNvSpPr/>
          <p:nvPr/>
        </p:nvSpPr>
        <p:spPr>
          <a:xfrm>
            <a:off x="2914024" y="4556455"/>
            <a:ext cx="99382" cy="457200"/>
          </a:xfrm>
          <a:prstGeom prst="rect">
            <a:avLst/>
          </a:prstGeom>
          <a:solidFill>
            <a:srgbClr val="3AE29F"/>
          </a:solidFill>
          <a:ln/>
        </p:spPr>
      </p:sp>
      <p:sp>
        <p:nvSpPr>
          <p:cNvPr id="78" name="Shape 76"/>
          <p:cNvSpPr/>
          <p:nvPr/>
        </p:nvSpPr>
        <p:spPr>
          <a:xfrm>
            <a:off x="3002432" y="4556455"/>
            <a:ext cx="99382" cy="457200"/>
          </a:xfrm>
          <a:prstGeom prst="rect">
            <a:avLst/>
          </a:prstGeom>
          <a:solidFill>
            <a:srgbClr val="38E0A4"/>
          </a:solidFill>
          <a:ln/>
        </p:spPr>
      </p:sp>
      <p:sp>
        <p:nvSpPr>
          <p:cNvPr id="79" name="Shape 77"/>
          <p:cNvSpPr/>
          <p:nvPr/>
        </p:nvSpPr>
        <p:spPr>
          <a:xfrm>
            <a:off x="3090841" y="4556455"/>
            <a:ext cx="99382" cy="457200"/>
          </a:xfrm>
          <a:prstGeom prst="rect">
            <a:avLst/>
          </a:prstGeom>
          <a:solidFill>
            <a:srgbClr val="36DEA9"/>
          </a:solidFill>
          <a:ln/>
        </p:spPr>
      </p:sp>
      <p:sp>
        <p:nvSpPr>
          <p:cNvPr id="80" name="Shape 78"/>
          <p:cNvSpPr/>
          <p:nvPr/>
        </p:nvSpPr>
        <p:spPr>
          <a:xfrm>
            <a:off x="3179250" y="4556455"/>
            <a:ext cx="99382" cy="457200"/>
          </a:xfrm>
          <a:prstGeom prst="rect">
            <a:avLst/>
          </a:prstGeom>
          <a:solidFill>
            <a:srgbClr val="34DDAF"/>
          </a:solidFill>
          <a:ln/>
        </p:spPr>
      </p:sp>
      <p:sp>
        <p:nvSpPr>
          <p:cNvPr id="81" name="Shape 79"/>
          <p:cNvSpPr/>
          <p:nvPr/>
        </p:nvSpPr>
        <p:spPr>
          <a:xfrm>
            <a:off x="3267659" y="4556455"/>
            <a:ext cx="99382" cy="457200"/>
          </a:xfrm>
          <a:prstGeom prst="rect">
            <a:avLst/>
          </a:prstGeom>
          <a:solidFill>
            <a:srgbClr val="33DBB4"/>
          </a:solidFill>
          <a:ln/>
        </p:spPr>
      </p:sp>
      <p:sp>
        <p:nvSpPr>
          <p:cNvPr id="82" name="Shape 80"/>
          <p:cNvSpPr/>
          <p:nvPr/>
        </p:nvSpPr>
        <p:spPr>
          <a:xfrm>
            <a:off x="3356067" y="4556455"/>
            <a:ext cx="99382" cy="457200"/>
          </a:xfrm>
          <a:prstGeom prst="rect">
            <a:avLst/>
          </a:prstGeom>
          <a:solidFill>
            <a:srgbClr val="31D9B9"/>
          </a:solidFill>
          <a:ln/>
        </p:spPr>
      </p:sp>
      <p:sp>
        <p:nvSpPr>
          <p:cNvPr id="83" name="Shape 81"/>
          <p:cNvSpPr/>
          <p:nvPr/>
        </p:nvSpPr>
        <p:spPr>
          <a:xfrm>
            <a:off x="3444476" y="4556455"/>
            <a:ext cx="99382" cy="457200"/>
          </a:xfrm>
          <a:prstGeom prst="rect">
            <a:avLst/>
          </a:prstGeom>
          <a:solidFill>
            <a:srgbClr val="2FD8BE"/>
          </a:solidFill>
          <a:ln/>
        </p:spPr>
      </p:sp>
      <p:sp>
        <p:nvSpPr>
          <p:cNvPr id="84" name="Shape 82"/>
          <p:cNvSpPr/>
          <p:nvPr/>
        </p:nvSpPr>
        <p:spPr>
          <a:xfrm>
            <a:off x="3532885" y="4556455"/>
            <a:ext cx="99382" cy="457200"/>
          </a:xfrm>
          <a:prstGeom prst="rect">
            <a:avLst/>
          </a:prstGeom>
          <a:solidFill>
            <a:srgbClr val="2DD6C4"/>
          </a:solidFill>
          <a:ln/>
        </p:spPr>
      </p:sp>
      <p:sp>
        <p:nvSpPr>
          <p:cNvPr id="85" name="Shape 83"/>
          <p:cNvSpPr/>
          <p:nvPr/>
        </p:nvSpPr>
        <p:spPr>
          <a:xfrm>
            <a:off x="3621294" y="4556455"/>
            <a:ext cx="99382" cy="457200"/>
          </a:xfrm>
          <a:prstGeom prst="rect">
            <a:avLst/>
          </a:prstGeom>
          <a:solidFill>
            <a:srgbClr val="2BD5C9"/>
          </a:solidFill>
          <a:ln/>
        </p:spPr>
      </p:sp>
      <p:sp>
        <p:nvSpPr>
          <p:cNvPr id="86" name="Shape 84"/>
          <p:cNvSpPr/>
          <p:nvPr/>
        </p:nvSpPr>
        <p:spPr>
          <a:xfrm>
            <a:off x="3709703" y="4556455"/>
            <a:ext cx="99382" cy="457200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87" name="Shape 85"/>
          <p:cNvSpPr/>
          <p:nvPr/>
        </p:nvSpPr>
        <p:spPr>
          <a:xfrm>
            <a:off x="2130552" y="4708854"/>
            <a:ext cx="152403" cy="152403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88" name="Shape 86"/>
          <p:cNvSpPr/>
          <p:nvPr/>
        </p:nvSpPr>
        <p:spPr>
          <a:xfrm>
            <a:off x="3721910" y="4708854"/>
            <a:ext cx="152403" cy="152403"/>
          </a:xfrm>
          <a:prstGeom prst="ellipse">
            <a:avLst/>
          </a:prstGeom>
          <a:solidFill>
            <a:srgbClr val="29D3CE"/>
          </a:solidFill>
          <a:ln/>
        </p:spPr>
      </p:sp>
      <p:sp>
        <p:nvSpPr>
          <p:cNvPr id="89" name="Text 87"/>
          <p:cNvSpPr/>
          <p:nvPr/>
        </p:nvSpPr>
        <p:spPr>
          <a:xfrm>
            <a:off x="2130552" y="4556455"/>
            <a:ext cx="174376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MEMORY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1760220" y="5013655"/>
            <a:ext cx="2696566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Meterless H-MEM spine: remember / ask / audit / sleep with provenance.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9159851" y="4556455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92" name="Shape 90"/>
          <p:cNvSpPr/>
          <p:nvPr/>
        </p:nvSpPr>
        <p:spPr>
          <a:xfrm>
            <a:off x="9248260" y="4556455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93" name="Shape 91"/>
          <p:cNvSpPr/>
          <p:nvPr/>
        </p:nvSpPr>
        <p:spPr>
          <a:xfrm>
            <a:off x="9336669" y="4556455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94" name="Shape 92"/>
          <p:cNvSpPr/>
          <p:nvPr/>
        </p:nvSpPr>
        <p:spPr>
          <a:xfrm>
            <a:off x="9425077" y="4556455"/>
            <a:ext cx="99382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95" name="Shape 93"/>
          <p:cNvSpPr/>
          <p:nvPr/>
        </p:nvSpPr>
        <p:spPr>
          <a:xfrm>
            <a:off x="9513486" y="4556455"/>
            <a:ext cx="99382" cy="457200"/>
          </a:xfrm>
          <a:prstGeom prst="rect">
            <a:avLst/>
          </a:prstGeom>
          <a:solidFill>
            <a:srgbClr val="42E88A"/>
          </a:solidFill>
          <a:ln/>
        </p:spPr>
      </p:sp>
      <p:sp>
        <p:nvSpPr>
          <p:cNvPr id="96" name="Shape 94"/>
          <p:cNvSpPr/>
          <p:nvPr/>
        </p:nvSpPr>
        <p:spPr>
          <a:xfrm>
            <a:off x="9601895" y="4556455"/>
            <a:ext cx="99382" cy="457200"/>
          </a:xfrm>
          <a:prstGeom prst="rect">
            <a:avLst/>
          </a:prstGeom>
          <a:solidFill>
            <a:srgbClr val="40E68F"/>
          </a:solidFill>
          <a:ln/>
        </p:spPr>
      </p:sp>
      <p:sp>
        <p:nvSpPr>
          <p:cNvPr id="97" name="Shape 95"/>
          <p:cNvSpPr/>
          <p:nvPr/>
        </p:nvSpPr>
        <p:spPr>
          <a:xfrm>
            <a:off x="9690304" y="4556455"/>
            <a:ext cx="99382" cy="457200"/>
          </a:xfrm>
          <a:prstGeom prst="rect">
            <a:avLst/>
          </a:prstGeom>
          <a:solidFill>
            <a:srgbClr val="3EE595"/>
          </a:solidFill>
          <a:ln/>
        </p:spPr>
      </p:sp>
      <p:sp>
        <p:nvSpPr>
          <p:cNvPr id="98" name="Shape 96"/>
          <p:cNvSpPr/>
          <p:nvPr/>
        </p:nvSpPr>
        <p:spPr>
          <a:xfrm>
            <a:off x="9778712" y="4556455"/>
            <a:ext cx="99382" cy="457200"/>
          </a:xfrm>
          <a:prstGeom prst="rect">
            <a:avLst/>
          </a:prstGeom>
          <a:solidFill>
            <a:srgbClr val="3CE39A"/>
          </a:solidFill>
          <a:ln/>
        </p:spPr>
      </p:sp>
      <p:sp>
        <p:nvSpPr>
          <p:cNvPr id="99" name="Shape 97"/>
          <p:cNvSpPr/>
          <p:nvPr/>
        </p:nvSpPr>
        <p:spPr>
          <a:xfrm>
            <a:off x="9867121" y="4556455"/>
            <a:ext cx="99382" cy="457200"/>
          </a:xfrm>
          <a:prstGeom prst="rect">
            <a:avLst/>
          </a:prstGeom>
          <a:solidFill>
            <a:srgbClr val="3AE29F"/>
          </a:solidFill>
          <a:ln/>
        </p:spPr>
      </p:sp>
      <p:sp>
        <p:nvSpPr>
          <p:cNvPr id="100" name="Shape 98"/>
          <p:cNvSpPr/>
          <p:nvPr/>
        </p:nvSpPr>
        <p:spPr>
          <a:xfrm>
            <a:off x="9955530" y="4556455"/>
            <a:ext cx="99382" cy="457200"/>
          </a:xfrm>
          <a:prstGeom prst="rect">
            <a:avLst/>
          </a:prstGeom>
          <a:solidFill>
            <a:srgbClr val="38E0A4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043939" y="4556455"/>
            <a:ext cx="99382" cy="457200"/>
          </a:xfrm>
          <a:prstGeom prst="rect">
            <a:avLst/>
          </a:prstGeom>
          <a:solidFill>
            <a:srgbClr val="36DEA9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132348" y="4556455"/>
            <a:ext cx="99382" cy="457200"/>
          </a:xfrm>
          <a:prstGeom prst="rect">
            <a:avLst/>
          </a:prstGeom>
          <a:solidFill>
            <a:srgbClr val="34DDA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20756" y="4556455"/>
            <a:ext cx="99382" cy="457200"/>
          </a:xfrm>
          <a:prstGeom prst="rect">
            <a:avLst/>
          </a:prstGeom>
          <a:solidFill>
            <a:srgbClr val="33DBB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309165" y="4556455"/>
            <a:ext cx="99382" cy="457200"/>
          </a:xfrm>
          <a:prstGeom prst="rect">
            <a:avLst/>
          </a:prstGeom>
          <a:solidFill>
            <a:srgbClr val="31D9B9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397574" y="4556455"/>
            <a:ext cx="99382" cy="457200"/>
          </a:xfrm>
          <a:prstGeom prst="rect">
            <a:avLst/>
          </a:prstGeom>
          <a:solidFill>
            <a:srgbClr val="2FD8B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485983" y="4556455"/>
            <a:ext cx="99382" cy="457200"/>
          </a:xfrm>
          <a:prstGeom prst="rect">
            <a:avLst/>
          </a:prstGeom>
          <a:solidFill>
            <a:srgbClr val="2DD6C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574391" y="4556455"/>
            <a:ext cx="99382" cy="457200"/>
          </a:xfrm>
          <a:prstGeom prst="rect">
            <a:avLst/>
          </a:prstGeom>
          <a:solidFill>
            <a:srgbClr val="2BD5C9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662800" y="4556455"/>
            <a:ext cx="99382" cy="457200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083650" y="4708854"/>
            <a:ext cx="152403" cy="152403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675007" y="4708854"/>
            <a:ext cx="152403" cy="152403"/>
          </a:xfrm>
          <a:prstGeom prst="ellipse">
            <a:avLst/>
          </a:prstGeom>
          <a:solidFill>
            <a:srgbClr val="29D3CE"/>
          </a:solidFill>
          <a:ln/>
        </p:spPr>
      </p:sp>
      <p:sp>
        <p:nvSpPr>
          <p:cNvPr id="111" name="Text 109"/>
          <p:cNvSpPr/>
          <p:nvPr/>
        </p:nvSpPr>
        <p:spPr>
          <a:xfrm>
            <a:off x="9083650" y="4556455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Open Sans ExtraBold" pitchFamily="34" charset="0"/>
                <a:ea typeface="Open Sans ExtraBold" pitchFamily="34" charset="-122"/>
                <a:cs typeface="Open Sans ExtraBold" pitchFamily="34" charset="-120"/>
              </a:rPr>
              <a:t>TOOLS → ACTION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8738006" y="5013655"/>
            <a:ext cx="2696566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7F7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Zetaris + imwire tools/data, then Action/Alert back to HubCards.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556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Text 2"/>
          <p:cNvSpPr/>
          <p:nvPr/>
        </p:nvSpPr>
        <p:spPr>
          <a:xfrm>
            <a:off x="530352" y="207569"/>
            <a:ext cx="160020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wangwu.ai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74122" y="207569"/>
            <a:ext cx="138623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Page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	</a:t>
            </a:r>
            <a:r>
              <a:rPr lang="en-US" sz="1200" dirty="0">
                <a:solidFill>
                  <a:srgbClr val="D8D8D8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45082" y="1371600"/>
            <a:ext cx="4056278" cy="3268066"/>
          </a:xfrm>
          <a:prstGeom prst="rect">
            <a:avLst/>
          </a:prstGeom>
          <a:solidFill>
            <a:srgbClr val="989898"/>
          </a:solidFill>
          <a:ln/>
        </p:spPr>
      </p:sp>
      <p:sp>
        <p:nvSpPr>
          <p:cNvPr id="7" name="Text 5"/>
          <p:cNvSpPr/>
          <p:nvPr/>
        </p:nvSpPr>
        <p:spPr>
          <a:xfrm>
            <a:off x="5686654" y="1818742"/>
            <a:ext cx="5451653" cy="1323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3E98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Unique </a:t>
            </a:r>
            <a:r>
              <a:rPr lang="en-US" sz="4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</a:t>
            </a: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Declare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97626" y="3221431"/>
            <a:ext cx="4905756" cy="825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Pre-existing HubCards + home crew declared. Hackathon delta: public docs repo, Meterless H-MEM bridge, Zetaris path, demo/slides. Related public: imwire · teamrecall.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21284" y="5189220"/>
            <a:ext cx="243654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10" name="Shape 8"/>
          <p:cNvSpPr/>
          <p:nvPr/>
        </p:nvSpPr>
        <p:spPr>
          <a:xfrm>
            <a:off x="1653965" y="5189220"/>
            <a:ext cx="243654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11" name="Shape 9"/>
          <p:cNvSpPr/>
          <p:nvPr/>
        </p:nvSpPr>
        <p:spPr>
          <a:xfrm>
            <a:off x="1886645" y="5189220"/>
            <a:ext cx="243654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12" name="Shape 10"/>
          <p:cNvSpPr/>
          <p:nvPr/>
        </p:nvSpPr>
        <p:spPr>
          <a:xfrm>
            <a:off x="2119326" y="5189220"/>
            <a:ext cx="243654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13" name="Shape 11"/>
          <p:cNvSpPr/>
          <p:nvPr/>
        </p:nvSpPr>
        <p:spPr>
          <a:xfrm>
            <a:off x="2352007" y="5189220"/>
            <a:ext cx="243654" cy="457200"/>
          </a:xfrm>
          <a:prstGeom prst="rect">
            <a:avLst/>
          </a:prstGeom>
          <a:solidFill>
            <a:srgbClr val="42E88A"/>
          </a:solidFill>
          <a:ln/>
        </p:spPr>
      </p:sp>
      <p:sp>
        <p:nvSpPr>
          <p:cNvPr id="14" name="Shape 12"/>
          <p:cNvSpPr/>
          <p:nvPr/>
        </p:nvSpPr>
        <p:spPr>
          <a:xfrm>
            <a:off x="2584688" y="5189220"/>
            <a:ext cx="243654" cy="457200"/>
          </a:xfrm>
          <a:prstGeom prst="rect">
            <a:avLst/>
          </a:prstGeom>
          <a:solidFill>
            <a:srgbClr val="40E68F"/>
          </a:solidFill>
          <a:ln/>
        </p:spPr>
      </p:sp>
      <p:sp>
        <p:nvSpPr>
          <p:cNvPr id="15" name="Shape 13"/>
          <p:cNvSpPr/>
          <p:nvPr/>
        </p:nvSpPr>
        <p:spPr>
          <a:xfrm>
            <a:off x="2817369" y="5189220"/>
            <a:ext cx="243654" cy="457200"/>
          </a:xfrm>
          <a:prstGeom prst="rect">
            <a:avLst/>
          </a:prstGeom>
          <a:solidFill>
            <a:srgbClr val="3EE595"/>
          </a:solidFill>
          <a:ln/>
        </p:spPr>
      </p:sp>
      <p:sp>
        <p:nvSpPr>
          <p:cNvPr id="16" name="Shape 14"/>
          <p:cNvSpPr/>
          <p:nvPr/>
        </p:nvSpPr>
        <p:spPr>
          <a:xfrm>
            <a:off x="3050049" y="5189220"/>
            <a:ext cx="243654" cy="457200"/>
          </a:xfrm>
          <a:prstGeom prst="rect">
            <a:avLst/>
          </a:prstGeom>
          <a:solidFill>
            <a:srgbClr val="3CE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3282730" y="5189220"/>
            <a:ext cx="243654" cy="457200"/>
          </a:xfrm>
          <a:prstGeom prst="rect">
            <a:avLst/>
          </a:prstGeom>
          <a:solidFill>
            <a:srgbClr val="3AE29F"/>
          </a:solidFill>
          <a:ln/>
        </p:spPr>
      </p:sp>
      <p:sp>
        <p:nvSpPr>
          <p:cNvPr id="18" name="Shape 16"/>
          <p:cNvSpPr/>
          <p:nvPr/>
        </p:nvSpPr>
        <p:spPr>
          <a:xfrm>
            <a:off x="3515411" y="5189220"/>
            <a:ext cx="243654" cy="457200"/>
          </a:xfrm>
          <a:prstGeom prst="rect">
            <a:avLst/>
          </a:prstGeom>
          <a:solidFill>
            <a:srgbClr val="38E0A4"/>
          </a:solidFill>
          <a:ln/>
        </p:spPr>
      </p:sp>
      <p:sp>
        <p:nvSpPr>
          <p:cNvPr id="19" name="Shape 17"/>
          <p:cNvSpPr/>
          <p:nvPr/>
        </p:nvSpPr>
        <p:spPr>
          <a:xfrm>
            <a:off x="3748092" y="5189220"/>
            <a:ext cx="243654" cy="457200"/>
          </a:xfrm>
          <a:prstGeom prst="rect">
            <a:avLst/>
          </a:prstGeom>
          <a:solidFill>
            <a:srgbClr val="36DEA9"/>
          </a:solidFill>
          <a:ln/>
        </p:spPr>
      </p:sp>
      <p:sp>
        <p:nvSpPr>
          <p:cNvPr id="20" name="Shape 18"/>
          <p:cNvSpPr/>
          <p:nvPr/>
        </p:nvSpPr>
        <p:spPr>
          <a:xfrm>
            <a:off x="3980772" y="5189220"/>
            <a:ext cx="243654" cy="457200"/>
          </a:xfrm>
          <a:prstGeom prst="rect">
            <a:avLst/>
          </a:prstGeom>
          <a:solidFill>
            <a:srgbClr val="34DDAF"/>
          </a:solidFill>
          <a:ln/>
        </p:spPr>
      </p:sp>
      <p:sp>
        <p:nvSpPr>
          <p:cNvPr id="21" name="Shape 19"/>
          <p:cNvSpPr/>
          <p:nvPr/>
        </p:nvSpPr>
        <p:spPr>
          <a:xfrm>
            <a:off x="4213453" y="5189220"/>
            <a:ext cx="243654" cy="457200"/>
          </a:xfrm>
          <a:prstGeom prst="rect">
            <a:avLst/>
          </a:prstGeom>
          <a:solidFill>
            <a:srgbClr val="33DBB4"/>
          </a:solidFill>
          <a:ln/>
        </p:spPr>
      </p:sp>
      <p:sp>
        <p:nvSpPr>
          <p:cNvPr id="22" name="Shape 20"/>
          <p:cNvSpPr/>
          <p:nvPr/>
        </p:nvSpPr>
        <p:spPr>
          <a:xfrm>
            <a:off x="4446134" y="5189220"/>
            <a:ext cx="243654" cy="457200"/>
          </a:xfrm>
          <a:prstGeom prst="rect">
            <a:avLst/>
          </a:prstGeom>
          <a:solidFill>
            <a:srgbClr val="31D9B9"/>
          </a:solidFill>
          <a:ln/>
        </p:spPr>
      </p:sp>
      <p:sp>
        <p:nvSpPr>
          <p:cNvPr id="23" name="Shape 21"/>
          <p:cNvSpPr/>
          <p:nvPr/>
        </p:nvSpPr>
        <p:spPr>
          <a:xfrm>
            <a:off x="4678815" y="5189220"/>
            <a:ext cx="243654" cy="457200"/>
          </a:xfrm>
          <a:prstGeom prst="rect">
            <a:avLst/>
          </a:prstGeom>
          <a:solidFill>
            <a:srgbClr val="2FD8BE"/>
          </a:solidFill>
          <a:ln/>
        </p:spPr>
      </p:sp>
      <p:sp>
        <p:nvSpPr>
          <p:cNvPr id="24" name="Shape 22"/>
          <p:cNvSpPr/>
          <p:nvPr/>
        </p:nvSpPr>
        <p:spPr>
          <a:xfrm>
            <a:off x="4911495" y="5189220"/>
            <a:ext cx="243654" cy="457200"/>
          </a:xfrm>
          <a:prstGeom prst="rect">
            <a:avLst/>
          </a:prstGeom>
          <a:solidFill>
            <a:srgbClr val="2DD6C4"/>
          </a:solidFill>
          <a:ln/>
        </p:spPr>
      </p:sp>
      <p:sp>
        <p:nvSpPr>
          <p:cNvPr id="25" name="Shape 23"/>
          <p:cNvSpPr/>
          <p:nvPr/>
        </p:nvSpPr>
        <p:spPr>
          <a:xfrm>
            <a:off x="5144176" y="5189220"/>
            <a:ext cx="243654" cy="457200"/>
          </a:xfrm>
          <a:prstGeom prst="rect">
            <a:avLst/>
          </a:prstGeom>
          <a:solidFill>
            <a:srgbClr val="2BD5C9"/>
          </a:solidFill>
          <a:ln/>
        </p:spPr>
      </p:sp>
      <p:sp>
        <p:nvSpPr>
          <p:cNvPr id="26" name="Shape 24"/>
          <p:cNvSpPr/>
          <p:nvPr/>
        </p:nvSpPr>
        <p:spPr>
          <a:xfrm>
            <a:off x="5376857" y="5189220"/>
            <a:ext cx="243654" cy="457200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45082" y="5341618"/>
            <a:ext cx="152403" cy="152403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28" name="Shape 26"/>
          <p:cNvSpPr/>
          <p:nvPr/>
        </p:nvSpPr>
        <p:spPr>
          <a:xfrm>
            <a:off x="5533336" y="5341618"/>
            <a:ext cx="152403" cy="152403"/>
          </a:xfrm>
          <a:prstGeom prst="ellipse">
            <a:avLst/>
          </a:prstGeom>
          <a:solidFill>
            <a:srgbClr val="29D3CE"/>
          </a:solidFill>
          <a:ln/>
        </p:spPr>
      </p:sp>
      <p:sp>
        <p:nvSpPr>
          <p:cNvPr id="29" name="Text 27"/>
          <p:cNvSpPr/>
          <p:nvPr/>
        </p:nvSpPr>
        <p:spPr>
          <a:xfrm>
            <a:off x="1345082" y="51892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github.com/wangwu-30/open-agent-2026 · imwire · teamrecall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19725" y="5189220"/>
            <a:ext cx="94505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3257" y="5189220"/>
            <a:ext cx="94505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86789" y="5189220"/>
            <a:ext cx="94505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33" name="Shape 31"/>
          <p:cNvSpPr/>
          <p:nvPr/>
        </p:nvSpPr>
        <p:spPr>
          <a:xfrm>
            <a:off x="6570321" y="5189220"/>
            <a:ext cx="94505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34" name="Shape 32"/>
          <p:cNvSpPr/>
          <p:nvPr/>
        </p:nvSpPr>
        <p:spPr>
          <a:xfrm>
            <a:off x="6653853" y="5189220"/>
            <a:ext cx="94505" cy="457200"/>
          </a:xfrm>
          <a:prstGeom prst="rect">
            <a:avLst/>
          </a:prstGeom>
          <a:solidFill>
            <a:srgbClr val="42E88A"/>
          </a:solidFill>
          <a:ln/>
        </p:spPr>
      </p:sp>
      <p:sp>
        <p:nvSpPr>
          <p:cNvPr id="35" name="Shape 33"/>
          <p:cNvSpPr/>
          <p:nvPr/>
        </p:nvSpPr>
        <p:spPr>
          <a:xfrm>
            <a:off x="6737385" y="5189220"/>
            <a:ext cx="94505" cy="457200"/>
          </a:xfrm>
          <a:prstGeom prst="rect">
            <a:avLst/>
          </a:prstGeom>
          <a:solidFill>
            <a:srgbClr val="40E68F"/>
          </a:solidFill>
          <a:ln/>
        </p:spPr>
      </p:sp>
      <p:sp>
        <p:nvSpPr>
          <p:cNvPr id="36" name="Shape 34"/>
          <p:cNvSpPr/>
          <p:nvPr/>
        </p:nvSpPr>
        <p:spPr>
          <a:xfrm>
            <a:off x="6820917" y="5189220"/>
            <a:ext cx="94505" cy="457200"/>
          </a:xfrm>
          <a:prstGeom prst="rect">
            <a:avLst/>
          </a:prstGeom>
          <a:solidFill>
            <a:srgbClr val="3EE595"/>
          </a:solidFill>
          <a:ln/>
        </p:spPr>
      </p:sp>
      <p:sp>
        <p:nvSpPr>
          <p:cNvPr id="37" name="Shape 35"/>
          <p:cNvSpPr/>
          <p:nvPr/>
        </p:nvSpPr>
        <p:spPr>
          <a:xfrm>
            <a:off x="6904448" y="5189220"/>
            <a:ext cx="94505" cy="457200"/>
          </a:xfrm>
          <a:prstGeom prst="rect">
            <a:avLst/>
          </a:prstGeom>
          <a:solidFill>
            <a:srgbClr val="3CE39A"/>
          </a:solidFill>
          <a:ln/>
        </p:spPr>
      </p:sp>
      <p:sp>
        <p:nvSpPr>
          <p:cNvPr id="38" name="Shape 36"/>
          <p:cNvSpPr/>
          <p:nvPr/>
        </p:nvSpPr>
        <p:spPr>
          <a:xfrm>
            <a:off x="6987980" y="5189220"/>
            <a:ext cx="94505" cy="457200"/>
          </a:xfrm>
          <a:prstGeom prst="rect">
            <a:avLst/>
          </a:prstGeom>
          <a:solidFill>
            <a:srgbClr val="3AE29F"/>
          </a:solidFill>
          <a:ln/>
        </p:spPr>
      </p:sp>
      <p:sp>
        <p:nvSpPr>
          <p:cNvPr id="39" name="Shape 37"/>
          <p:cNvSpPr/>
          <p:nvPr/>
        </p:nvSpPr>
        <p:spPr>
          <a:xfrm>
            <a:off x="7071512" y="5189220"/>
            <a:ext cx="94505" cy="457200"/>
          </a:xfrm>
          <a:prstGeom prst="rect">
            <a:avLst/>
          </a:prstGeom>
          <a:solidFill>
            <a:srgbClr val="38E0A4"/>
          </a:solidFill>
          <a:ln/>
        </p:spPr>
      </p:sp>
      <p:sp>
        <p:nvSpPr>
          <p:cNvPr id="40" name="Shape 38"/>
          <p:cNvSpPr/>
          <p:nvPr/>
        </p:nvSpPr>
        <p:spPr>
          <a:xfrm>
            <a:off x="7155044" y="5189220"/>
            <a:ext cx="94505" cy="457200"/>
          </a:xfrm>
          <a:prstGeom prst="rect">
            <a:avLst/>
          </a:prstGeom>
          <a:solidFill>
            <a:srgbClr val="36DEA9"/>
          </a:solidFill>
          <a:ln/>
        </p:spPr>
      </p:sp>
      <p:sp>
        <p:nvSpPr>
          <p:cNvPr id="41" name="Shape 39"/>
          <p:cNvSpPr/>
          <p:nvPr/>
        </p:nvSpPr>
        <p:spPr>
          <a:xfrm>
            <a:off x="7238576" y="5189220"/>
            <a:ext cx="94505" cy="457200"/>
          </a:xfrm>
          <a:prstGeom prst="rect">
            <a:avLst/>
          </a:prstGeom>
          <a:solidFill>
            <a:srgbClr val="34DDAF"/>
          </a:solidFill>
          <a:ln/>
        </p:spPr>
      </p:sp>
      <p:sp>
        <p:nvSpPr>
          <p:cNvPr id="42" name="Shape 40"/>
          <p:cNvSpPr/>
          <p:nvPr/>
        </p:nvSpPr>
        <p:spPr>
          <a:xfrm>
            <a:off x="7322108" y="5189220"/>
            <a:ext cx="94505" cy="457200"/>
          </a:xfrm>
          <a:prstGeom prst="rect">
            <a:avLst/>
          </a:prstGeom>
          <a:solidFill>
            <a:srgbClr val="33DBB4"/>
          </a:solidFill>
          <a:ln/>
        </p:spPr>
      </p:sp>
      <p:sp>
        <p:nvSpPr>
          <p:cNvPr id="43" name="Shape 41"/>
          <p:cNvSpPr/>
          <p:nvPr/>
        </p:nvSpPr>
        <p:spPr>
          <a:xfrm>
            <a:off x="7405640" y="5189220"/>
            <a:ext cx="94505" cy="457200"/>
          </a:xfrm>
          <a:prstGeom prst="rect">
            <a:avLst/>
          </a:prstGeom>
          <a:solidFill>
            <a:srgbClr val="31D9B9"/>
          </a:solidFill>
          <a:ln/>
        </p:spPr>
      </p:sp>
      <p:sp>
        <p:nvSpPr>
          <p:cNvPr id="44" name="Shape 42"/>
          <p:cNvSpPr/>
          <p:nvPr/>
        </p:nvSpPr>
        <p:spPr>
          <a:xfrm>
            <a:off x="7489172" y="5189220"/>
            <a:ext cx="94505" cy="457200"/>
          </a:xfrm>
          <a:prstGeom prst="rect">
            <a:avLst/>
          </a:prstGeom>
          <a:solidFill>
            <a:srgbClr val="2FD8BE"/>
          </a:solidFill>
          <a:ln/>
        </p:spPr>
      </p:sp>
      <p:sp>
        <p:nvSpPr>
          <p:cNvPr id="45" name="Shape 43"/>
          <p:cNvSpPr/>
          <p:nvPr/>
        </p:nvSpPr>
        <p:spPr>
          <a:xfrm>
            <a:off x="7572704" y="5189220"/>
            <a:ext cx="94505" cy="457200"/>
          </a:xfrm>
          <a:prstGeom prst="rect">
            <a:avLst/>
          </a:prstGeom>
          <a:solidFill>
            <a:srgbClr val="2DD6C4"/>
          </a:solidFill>
          <a:ln/>
        </p:spPr>
      </p:sp>
      <p:sp>
        <p:nvSpPr>
          <p:cNvPr id="46" name="Shape 44"/>
          <p:cNvSpPr/>
          <p:nvPr/>
        </p:nvSpPr>
        <p:spPr>
          <a:xfrm>
            <a:off x="7656236" y="5189220"/>
            <a:ext cx="94505" cy="457200"/>
          </a:xfrm>
          <a:prstGeom prst="rect">
            <a:avLst/>
          </a:prstGeom>
          <a:solidFill>
            <a:srgbClr val="2BD5C9"/>
          </a:solidFill>
          <a:ln/>
        </p:spPr>
      </p:sp>
      <p:sp>
        <p:nvSpPr>
          <p:cNvPr id="47" name="Shape 45"/>
          <p:cNvSpPr/>
          <p:nvPr/>
        </p:nvSpPr>
        <p:spPr>
          <a:xfrm>
            <a:off x="7739768" y="5189220"/>
            <a:ext cx="94505" cy="457200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48" name="Shape 46"/>
          <p:cNvSpPr/>
          <p:nvPr/>
        </p:nvSpPr>
        <p:spPr>
          <a:xfrm>
            <a:off x="6243523" y="5341618"/>
            <a:ext cx="152403" cy="152403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49" name="Shape 47"/>
          <p:cNvSpPr/>
          <p:nvPr/>
        </p:nvSpPr>
        <p:spPr>
          <a:xfrm>
            <a:off x="7747099" y="5341618"/>
            <a:ext cx="152403" cy="152403"/>
          </a:xfrm>
          <a:prstGeom prst="ellipse">
            <a:avLst/>
          </a:prstGeom>
          <a:solidFill>
            <a:srgbClr val="29D3CE"/>
          </a:solidFill>
          <a:ln/>
        </p:spPr>
      </p:sp>
      <p:sp>
        <p:nvSpPr>
          <p:cNvPr id="50" name="Text 48"/>
          <p:cNvSpPr/>
          <p:nvPr/>
        </p:nvSpPr>
        <p:spPr>
          <a:xfrm>
            <a:off x="6243523" y="51892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wangwu.ai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389926" y="5189220"/>
            <a:ext cx="86783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52" name="Shape 50"/>
          <p:cNvSpPr/>
          <p:nvPr/>
        </p:nvSpPr>
        <p:spPr>
          <a:xfrm>
            <a:off x="8465737" y="5189220"/>
            <a:ext cx="86783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53" name="Shape 51"/>
          <p:cNvSpPr/>
          <p:nvPr/>
        </p:nvSpPr>
        <p:spPr>
          <a:xfrm>
            <a:off x="8541547" y="5189220"/>
            <a:ext cx="86783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54" name="Shape 52"/>
          <p:cNvSpPr/>
          <p:nvPr/>
        </p:nvSpPr>
        <p:spPr>
          <a:xfrm>
            <a:off x="8617357" y="5189220"/>
            <a:ext cx="86783" cy="457200"/>
          </a:xfrm>
          <a:prstGeom prst="rect">
            <a:avLst/>
          </a:prstGeom>
          <a:solidFill>
            <a:srgbClr val="43E987"/>
          </a:solidFill>
          <a:ln/>
        </p:spPr>
      </p:sp>
      <p:sp>
        <p:nvSpPr>
          <p:cNvPr id="55" name="Shape 53"/>
          <p:cNvSpPr/>
          <p:nvPr/>
        </p:nvSpPr>
        <p:spPr>
          <a:xfrm>
            <a:off x="8693168" y="5189220"/>
            <a:ext cx="86783" cy="457200"/>
          </a:xfrm>
          <a:prstGeom prst="rect">
            <a:avLst/>
          </a:prstGeom>
          <a:solidFill>
            <a:srgbClr val="42E88A"/>
          </a:solidFill>
          <a:ln/>
        </p:spPr>
      </p:sp>
      <p:sp>
        <p:nvSpPr>
          <p:cNvPr id="56" name="Shape 54"/>
          <p:cNvSpPr/>
          <p:nvPr/>
        </p:nvSpPr>
        <p:spPr>
          <a:xfrm>
            <a:off x="8768978" y="5189220"/>
            <a:ext cx="86783" cy="457200"/>
          </a:xfrm>
          <a:prstGeom prst="rect">
            <a:avLst/>
          </a:prstGeom>
          <a:solidFill>
            <a:srgbClr val="40E68F"/>
          </a:solidFill>
          <a:ln/>
        </p:spPr>
      </p:sp>
      <p:sp>
        <p:nvSpPr>
          <p:cNvPr id="57" name="Shape 55"/>
          <p:cNvSpPr/>
          <p:nvPr/>
        </p:nvSpPr>
        <p:spPr>
          <a:xfrm>
            <a:off x="8844789" y="5189220"/>
            <a:ext cx="86783" cy="457200"/>
          </a:xfrm>
          <a:prstGeom prst="rect">
            <a:avLst/>
          </a:prstGeom>
          <a:solidFill>
            <a:srgbClr val="3EE595"/>
          </a:solidFill>
          <a:ln/>
        </p:spPr>
      </p:sp>
      <p:sp>
        <p:nvSpPr>
          <p:cNvPr id="58" name="Shape 56"/>
          <p:cNvSpPr/>
          <p:nvPr/>
        </p:nvSpPr>
        <p:spPr>
          <a:xfrm>
            <a:off x="8920599" y="5189220"/>
            <a:ext cx="86783" cy="457200"/>
          </a:xfrm>
          <a:prstGeom prst="rect">
            <a:avLst/>
          </a:prstGeom>
          <a:solidFill>
            <a:srgbClr val="3CE39A"/>
          </a:solidFill>
          <a:ln/>
        </p:spPr>
      </p:sp>
      <p:sp>
        <p:nvSpPr>
          <p:cNvPr id="59" name="Shape 57"/>
          <p:cNvSpPr/>
          <p:nvPr/>
        </p:nvSpPr>
        <p:spPr>
          <a:xfrm>
            <a:off x="8996409" y="5189220"/>
            <a:ext cx="86783" cy="457200"/>
          </a:xfrm>
          <a:prstGeom prst="rect">
            <a:avLst/>
          </a:prstGeom>
          <a:solidFill>
            <a:srgbClr val="3AE29F"/>
          </a:solidFill>
          <a:ln/>
        </p:spPr>
      </p:sp>
      <p:sp>
        <p:nvSpPr>
          <p:cNvPr id="60" name="Shape 58"/>
          <p:cNvSpPr/>
          <p:nvPr/>
        </p:nvSpPr>
        <p:spPr>
          <a:xfrm>
            <a:off x="9072220" y="5189220"/>
            <a:ext cx="86783" cy="457200"/>
          </a:xfrm>
          <a:prstGeom prst="rect">
            <a:avLst/>
          </a:prstGeom>
          <a:solidFill>
            <a:srgbClr val="38E0A4"/>
          </a:solidFill>
          <a:ln/>
        </p:spPr>
      </p:sp>
      <p:sp>
        <p:nvSpPr>
          <p:cNvPr id="61" name="Shape 59"/>
          <p:cNvSpPr/>
          <p:nvPr/>
        </p:nvSpPr>
        <p:spPr>
          <a:xfrm>
            <a:off x="9148030" y="5189220"/>
            <a:ext cx="86783" cy="457200"/>
          </a:xfrm>
          <a:prstGeom prst="rect">
            <a:avLst/>
          </a:prstGeom>
          <a:solidFill>
            <a:srgbClr val="36DEA9"/>
          </a:solidFill>
          <a:ln/>
        </p:spPr>
      </p:sp>
      <p:sp>
        <p:nvSpPr>
          <p:cNvPr id="62" name="Shape 60"/>
          <p:cNvSpPr/>
          <p:nvPr/>
        </p:nvSpPr>
        <p:spPr>
          <a:xfrm>
            <a:off x="9223840" y="5189220"/>
            <a:ext cx="86783" cy="457200"/>
          </a:xfrm>
          <a:prstGeom prst="rect">
            <a:avLst/>
          </a:prstGeom>
          <a:solidFill>
            <a:srgbClr val="34DDAF"/>
          </a:solidFill>
          <a:ln/>
        </p:spPr>
      </p:sp>
      <p:sp>
        <p:nvSpPr>
          <p:cNvPr id="63" name="Shape 61"/>
          <p:cNvSpPr/>
          <p:nvPr/>
        </p:nvSpPr>
        <p:spPr>
          <a:xfrm>
            <a:off x="9299651" y="5189220"/>
            <a:ext cx="86783" cy="457200"/>
          </a:xfrm>
          <a:prstGeom prst="rect">
            <a:avLst/>
          </a:prstGeom>
          <a:solidFill>
            <a:srgbClr val="33DBB4"/>
          </a:solidFill>
          <a:ln/>
        </p:spPr>
      </p:sp>
      <p:sp>
        <p:nvSpPr>
          <p:cNvPr id="64" name="Shape 62"/>
          <p:cNvSpPr/>
          <p:nvPr/>
        </p:nvSpPr>
        <p:spPr>
          <a:xfrm>
            <a:off x="9375461" y="5189220"/>
            <a:ext cx="86783" cy="457200"/>
          </a:xfrm>
          <a:prstGeom prst="rect">
            <a:avLst/>
          </a:prstGeom>
          <a:solidFill>
            <a:srgbClr val="31D9B9"/>
          </a:solidFill>
          <a:ln/>
        </p:spPr>
      </p:sp>
      <p:sp>
        <p:nvSpPr>
          <p:cNvPr id="65" name="Shape 63"/>
          <p:cNvSpPr/>
          <p:nvPr/>
        </p:nvSpPr>
        <p:spPr>
          <a:xfrm>
            <a:off x="9451271" y="5189220"/>
            <a:ext cx="86783" cy="457200"/>
          </a:xfrm>
          <a:prstGeom prst="rect">
            <a:avLst/>
          </a:prstGeom>
          <a:solidFill>
            <a:srgbClr val="2FD8BE"/>
          </a:solidFill>
          <a:ln/>
        </p:spPr>
      </p:sp>
      <p:sp>
        <p:nvSpPr>
          <p:cNvPr id="66" name="Shape 64"/>
          <p:cNvSpPr/>
          <p:nvPr/>
        </p:nvSpPr>
        <p:spPr>
          <a:xfrm>
            <a:off x="9527082" y="5189220"/>
            <a:ext cx="86783" cy="457200"/>
          </a:xfrm>
          <a:prstGeom prst="rect">
            <a:avLst/>
          </a:prstGeom>
          <a:solidFill>
            <a:srgbClr val="2DD6C4"/>
          </a:solidFill>
          <a:ln/>
        </p:spPr>
      </p:sp>
      <p:sp>
        <p:nvSpPr>
          <p:cNvPr id="67" name="Shape 65"/>
          <p:cNvSpPr/>
          <p:nvPr/>
        </p:nvSpPr>
        <p:spPr>
          <a:xfrm>
            <a:off x="9602892" y="5189220"/>
            <a:ext cx="86783" cy="457200"/>
          </a:xfrm>
          <a:prstGeom prst="rect">
            <a:avLst/>
          </a:prstGeom>
          <a:solidFill>
            <a:srgbClr val="2BD5C9"/>
          </a:solidFill>
          <a:ln/>
        </p:spPr>
      </p:sp>
      <p:sp>
        <p:nvSpPr>
          <p:cNvPr id="68" name="Shape 66"/>
          <p:cNvSpPr/>
          <p:nvPr/>
        </p:nvSpPr>
        <p:spPr>
          <a:xfrm>
            <a:off x="9678703" y="5189220"/>
            <a:ext cx="86783" cy="457200"/>
          </a:xfrm>
          <a:prstGeom prst="rect">
            <a:avLst/>
          </a:prstGeom>
          <a:solidFill>
            <a:srgbClr val="29D3CE"/>
          </a:solidFill>
          <a:ln/>
        </p:spPr>
      </p:sp>
      <p:sp>
        <p:nvSpPr>
          <p:cNvPr id="69" name="Shape 67"/>
          <p:cNvSpPr/>
          <p:nvPr/>
        </p:nvSpPr>
        <p:spPr>
          <a:xfrm>
            <a:off x="8313725" y="5341618"/>
            <a:ext cx="152403" cy="152403"/>
          </a:xfrm>
          <a:prstGeom prst="ellipse">
            <a:avLst/>
          </a:prstGeom>
          <a:solidFill>
            <a:srgbClr val="43E987"/>
          </a:solidFill>
          <a:ln/>
        </p:spPr>
      </p:sp>
      <p:sp>
        <p:nvSpPr>
          <p:cNvPr id="70" name="Shape 68"/>
          <p:cNvSpPr/>
          <p:nvPr/>
        </p:nvSpPr>
        <p:spPr>
          <a:xfrm>
            <a:off x="9678311" y="5341618"/>
            <a:ext cx="152403" cy="152403"/>
          </a:xfrm>
          <a:prstGeom prst="ellipse">
            <a:avLst/>
          </a:prstGeom>
          <a:solidFill>
            <a:srgbClr val="29D3CE"/>
          </a:solidFill>
          <a:ln/>
        </p:spPr>
      </p:sp>
      <p:sp>
        <p:nvSpPr>
          <p:cNvPr id="71" name="Text 69"/>
          <p:cNvSpPr/>
          <p:nvPr/>
        </p:nvSpPr>
        <p:spPr>
          <a:xfrm>
            <a:off x="8313725" y="51892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03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 Company Presentation</dc:title>
  <dc:subject>PptxGenJS Presentation</dc:subject>
  <dc:creator>Yumnacreative</dc:creator>
  <cp:lastModifiedBy>Yumnacreative</cp:lastModifiedBy>
  <cp:revision>1</cp:revision>
  <dcterms:created xsi:type="dcterms:W3CDTF">2026-10-26T15:37:23Z</dcterms:created>
  <dcterms:modified xsi:type="dcterms:W3CDTF">2026-10-26T15:37:23Z</dcterms:modified>
</cp:coreProperties>
</file>